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pic>
        <p:nvPicPr>
          <p:cNvPr id="3" name="Picture 2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82880"/>
            <a:ext cx="1828800" cy="533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1051560"/>
            <a:ext cx="94484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5" name="Picture 4" descr="sih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17320"/>
            <a:ext cx="3931920" cy="4423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057400"/>
            <a:ext cx="6858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SIH26197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Student Innovation—Ideas that showcase the rich cultural heritage and traditions of India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Heritage &amp; Culture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 u="sng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57385</a:t>
            </a:r>
          </a:p>
          <a:p>
            <a:pPr>
              <a:spcAft>
                <a:spcPts val="18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(Registered on portal) </a:t>
            </a:r>
            <a:r>
              <a:rPr sz="1700" b="1" u="none">
                <a:solidFill>
                  <a:srgbClr val="000000"/>
                </a:solidFill>
                <a:latin typeface="Arial"/>
              </a:rPr>
              <a:t>Team VirasatX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IDEA TITLE: VIRASATX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 u="sng">
                <a:solidFill>
                  <a:srgbClr val="0070C0"/>
                </a:solidFill>
                <a:latin typeface="Arial"/>
              </a:defRPr>
            </a:pPr>
            <a:r>
              <a:t>❖ Proposed Solution (Describe your Idea/Solution/Prototype):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Detailed explanation of the proposed solution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Unified Cultural Ecosystem: </a:t>
            </a:r>
            <a:r>
              <a:rPr sz="900">
                <a:solidFill>
                  <a:srgbClr val="475569"/>
                </a:solidFill>
                <a:latin typeface="Arial"/>
              </a:rPr>
              <a:t>VirasatX connects monuments, 3D artifacts, living traditions, timelines, and regional geography into one cohesive, discoverable experience.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Multi-Modal Exploration: </a:t>
            </a:r>
            <a:r>
              <a:rPr sz="900">
                <a:solidFill>
                  <a:srgbClr val="475569"/>
                </a:solidFill>
                <a:latin typeface="Arial"/>
              </a:rPr>
              <a:t>Interactive Three.js WebGL 3D artifact studio, 11-period chronological timeline, Leaflet GIS heritage mapping, and living artisan craft profiles.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Google Gemini Multimodal AI: </a:t>
            </a:r>
            <a:r>
              <a:rPr sz="900">
                <a:solidFill>
                  <a:srgbClr val="475569"/>
                </a:solidFill>
                <a:latin typeface="Arial"/>
              </a:rPr>
              <a:t>Contextual conversational cultural Q&amp;A and visual iconography AI analyzing motifs, mudras, and architectural orders with fact-grounded guardrails.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How it addresses the problem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Synthesizes Fragmented Archives: </a:t>
            </a:r>
            <a:r>
              <a:rPr sz="900">
                <a:solidFill>
                  <a:srgbClr val="475569"/>
                </a:solidFill>
                <a:latin typeface="Arial"/>
              </a:rPr>
              <a:t>Overcomes isolated, disconnected heritage archives by linking assets across historical epochs and geographic regions into an intuitive discovery graph.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Bridges Cultural Context Gap: </a:t>
            </a:r>
            <a:r>
              <a:rPr sz="900">
                <a:solidFill>
                  <a:srgbClr val="475569"/>
                </a:solidFill>
                <a:latin typeface="Arial"/>
              </a:rPr>
              <a:t>Transitions users from passive browsing to deep civilizational context (Dynasty → Period → Artisan Technique → Architectural Symbolism).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Elevates Endangered Traditions: </a:t>
            </a:r>
            <a:r>
              <a:rPr sz="900">
                <a:solidFill>
                  <a:srgbClr val="475569"/>
                </a:solidFill>
                <a:latin typeface="Arial"/>
              </a:rPr>
              <a:t>Provides dedicated digital visibility and direct patronage pathways for endangered craft forms, folklore, and master artisans.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Innovation and uniqueness of the solution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Context-First Philosophy: </a:t>
            </a:r>
            <a:r>
              <a:rPr sz="900">
                <a:solidFill>
                  <a:srgbClr val="475569"/>
                </a:solidFill>
                <a:latin typeface="Arial"/>
              </a:rPr>
              <a:t>“VirasatX connects the cultural context around heritage — not just isolated artifacts or 3D models.”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Interconnected Discovery Chain: </a:t>
            </a:r>
            <a:r>
              <a:rPr sz="900">
                <a:solidFill>
                  <a:srgbClr val="475569"/>
                </a:solidFill>
                <a:latin typeface="Arial"/>
              </a:rPr>
              <a:t>Artifact → Story → Period → Place → Tradition → Community → Active Learning &amp; Patronage.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950976"/>
            <a:ext cx="57607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rasatx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996696"/>
            <a:ext cx="56692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54864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00000"/>
                </a:solidFill>
                <a:latin typeface="Arial"/>
              </a:defRPr>
            </a:pPr>
            <a:r>
              <a:t>• Technologies to be used (e.g. programming languages, frameworks, hardware)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Frontend Framework: </a:t>
            </a:r>
            <a:r>
              <a:rPr sz="950">
                <a:solidFill>
                  <a:srgbClr val="000000"/>
                </a:solidFill>
                <a:latin typeface="Arial"/>
              </a:rPr>
              <a:t>React 19, TypeScript, Vite &amp; Tailwind CSS with Motion.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Multimodal AI Engine: </a:t>
            </a:r>
            <a:r>
              <a:rPr sz="950">
                <a:solidFill>
                  <a:srgbClr val="000000"/>
                </a:solidFill>
                <a:latin typeface="Arial"/>
              </a:rPr>
              <a:t>Google Gemini AI for contextual cultural exploration and visual iconography analysis.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3D Artifact Studio: </a:t>
            </a:r>
            <a:r>
              <a:rPr sz="950">
                <a:solidFill>
                  <a:srgbClr val="000000"/>
                </a:solidFill>
                <a:latin typeface="Arial"/>
              </a:rPr>
              <a:t>Three.js &amp; WebGL for real-time interactive 3D model rendering directly in mobile browsers.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GIS Spatial Mapping: </a:t>
            </a:r>
            <a:r>
              <a:rPr sz="950">
                <a:solidFill>
                  <a:srgbClr val="000000"/>
                </a:solidFill>
                <a:latin typeface="Arial"/>
              </a:rPr>
              <a:t>Leaflet &amp; OpenStreetMap for geographic heritage discovery and cluster exploration.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Voice Interaction: </a:t>
            </a:r>
            <a:r>
              <a:rPr sz="950">
                <a:solidFill>
                  <a:srgbClr val="000000"/>
                </a:solidFill>
                <a:latin typeface="Arial"/>
              </a:rPr>
              <a:t>Web Speech API for voice-assisted queries and audio guidance.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Backend &amp; Database: </a:t>
            </a:r>
            <a:r>
              <a:rPr sz="950">
                <a:solidFill>
                  <a:srgbClr val="000000"/>
                </a:solidFill>
                <a:latin typeface="Arial"/>
              </a:rPr>
              <a:t>Supabase with PostgreSQL relational database and Row Level Security (RLS).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5803D"/>
                </a:solidFill>
                <a:latin typeface="Arial"/>
              </a:rPr>
              <a:t>  • Cloud &amp; Edge: </a:t>
            </a:r>
            <a:r>
              <a:rPr sz="950">
                <a:solidFill>
                  <a:srgbClr val="000000"/>
                </a:solidFill>
                <a:latin typeface="Arial"/>
              </a:rPr>
              <a:t>Vercel serverless edge deployment ensuring sub-second global response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5204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Arial"/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8862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913632"/>
            <a:ext cx="5431536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480" y="5989320"/>
            <a:ext cx="5486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0000"/>
                </a:solidFill>
                <a:latin typeface="Arial"/>
              </a:defRPr>
            </a:pPr>
            <a:r>
              <a:t>Live Working Prototype: React 19 • Three.js WebGL • Gemini AI (https://virasatxai.vercel.app/)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950976"/>
            <a:ext cx="5760720" cy="5303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irasatx_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996696"/>
            <a:ext cx="56692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Analysis of the feasibility of the idea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1. Technical Feasibility: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Lightweight Web Architecture: </a:t>
            </a:r>
            <a:r>
              <a:rPr sz="900">
                <a:solidFill>
                  <a:srgbClr val="475569"/>
                </a:solidFill>
                <a:latin typeface="Arial"/>
              </a:rPr>
              <a:t>React 19, TypeScript, and WebGL deliver responsive 3D artifact rendering in mobile browsers without demanding app downloads.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Modular Multimodal AI: </a:t>
            </a:r>
            <a:r>
              <a:rPr sz="900">
                <a:solidFill>
                  <a:srgbClr val="475569"/>
                </a:solidFill>
                <a:latin typeface="Arial"/>
              </a:rPr>
              <a:t>Google Gemini multimodal AI orchestrated through serverless edge functions for rapid, low-latency contextual guidance.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Standardized Cultural Data Schemas: </a:t>
            </a:r>
            <a:r>
              <a:rPr sz="900">
                <a:solidFill>
                  <a:srgbClr val="475569"/>
                </a:solidFill>
                <a:latin typeface="Arial"/>
              </a:rPr>
              <a:t>Structured PostgreSQL &amp; JSON schemas compatible with national heritage classification standards.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2. Operational Feasibility: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Public Open Datasets: </a:t>
            </a:r>
            <a:r>
              <a:rPr sz="900">
                <a:solidFill>
                  <a:srgbClr val="475569"/>
                </a:solidFill>
                <a:latin typeface="Arial"/>
              </a:rPr>
              <a:t>Built upon documented public domain archives, monument registries, and academic resources without proprietary data locks.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Zero Infrastructure Overhead: </a:t>
            </a:r>
            <a:r>
              <a:rPr sz="900">
                <a:solidFill>
                  <a:srgbClr val="475569"/>
                </a:solidFill>
                <a:latin typeface="Arial"/>
              </a:rPr>
              <a:t>Serverless deployment on Vercel and Supabase eliminates physical server upkeep and high operational costs.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Modular Content Extensibility: </a:t>
            </a:r>
            <a:r>
              <a:rPr sz="900">
                <a:solidFill>
                  <a:srgbClr val="475569"/>
                </a:solidFill>
                <a:latin typeface="Arial"/>
              </a:rPr>
              <a:t>Structured content taxonomy allows adding new regional monuments, epochs, and craft traditions effortlessly.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3. Legal &amp; Ethical Feasibility: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Privacy &amp; Data Governance: </a:t>
            </a:r>
            <a:r>
              <a:rPr sz="900">
                <a:solidFill>
                  <a:srgbClr val="475569"/>
                </a:solidFill>
                <a:latin typeface="Arial"/>
              </a:rPr>
              <a:t>Strictly compliant with India’s Digital Personal Data Protection (DPDP) Act with zero unauthorized user tracking.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Cultural Sensitivity &amp; Attribution: </a:t>
            </a:r>
            <a:r>
              <a:rPr sz="900">
                <a:solidFill>
                  <a:srgbClr val="475569"/>
                </a:solidFill>
                <a:latin typeface="Arial"/>
              </a:rPr>
              <a:t>Strict prompt guardrails enforce respectful, non-distorted historical interpretation with explicit source citations.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950976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Potential challenges and risks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Data Fragmentation: </a:t>
            </a:r>
            <a:r>
              <a:rPr sz="900">
                <a:solidFill>
                  <a:srgbClr val="475569"/>
                </a:solidFill>
                <a:latin typeface="Arial"/>
              </a:rPr>
              <a:t>Heritage information scattered across divergent regional archives with inconsistent naming conventions.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AI Hallucination Risk: </a:t>
            </a:r>
            <a:r>
              <a:rPr sz="900">
                <a:solidFill>
                  <a:srgbClr val="475569"/>
                </a:solidFill>
                <a:latin typeface="Arial"/>
              </a:rPr>
              <a:t>Risk of large language models generating inaccurate historical dates, dynasties, or architectural styles.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Connectivity Variations: </a:t>
            </a:r>
            <a:r>
              <a:rPr sz="900">
                <a:solidFill>
                  <a:srgbClr val="475569"/>
                </a:solidFill>
                <a:latin typeface="Arial"/>
              </a:rPr>
              <a:t>Rich 3D models and high-resolution cultural imagery may face latency on 3G/4G rural mobile connections.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Strategies for overcoming these challenges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Unified Taxonomy Schemas: </a:t>
            </a:r>
            <a:r>
              <a:rPr sz="900">
                <a:solidFill>
                  <a:srgbClr val="475569"/>
                </a:solidFill>
                <a:latin typeface="Arial"/>
              </a:rPr>
              <a:t>Standardized normalizers reconcile regional spelling variants, dynasties, and historical eras into a single linked graph.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Source-Grounded Prompting: </a:t>
            </a:r>
            <a:r>
              <a:rPr sz="900">
                <a:solidFill>
                  <a:srgbClr val="475569"/>
                </a:solidFill>
                <a:latin typeface="Arial"/>
              </a:rPr>
              <a:t>AI Guide strictly constrained to verified facts with explicit archival citations and uncertainty disclaimers.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Progressive Web Optimization: </a:t>
            </a:r>
            <a:r>
              <a:rPr sz="900">
                <a:solidFill>
                  <a:srgbClr val="475569"/>
                </a:solidFill>
                <a:latin typeface="Arial"/>
              </a:rPr>
              <a:t>WebP compression, low-polygon 3D meshes, and browser caching ensure sub-second page loads.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200" b="1">
                <a:solidFill>
                  <a:srgbClr val="1B365D"/>
                </a:solidFill>
                <a:latin typeface="Arial"/>
              </a:defRPr>
            </a:pPr>
            <a:r>
              <a:t>❖ Economic Viability &amp; Scalability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Cost-Effective Foundation: </a:t>
            </a:r>
            <a:r>
              <a:rPr sz="900">
                <a:solidFill>
                  <a:srgbClr val="475569"/>
                </a:solidFill>
                <a:latin typeface="Arial"/>
              </a:rPr>
              <a:t>Built on modern open-source web technologies with near-zero baseline hosting expenses.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Elastic Cloud Scaling: </a:t>
            </a:r>
            <a:r>
              <a:rPr sz="900">
                <a:solidFill>
                  <a:srgbClr val="475569"/>
                </a:solidFill>
                <a:latin typeface="Arial"/>
              </a:rPr>
              <a:t>Serverless edge hosting through Vercel and Supabase scales dynamically on demand from pilot to national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Potential impact on the target audience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1. Students &amp; Youth: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Interactive Learning: </a:t>
            </a:r>
            <a:r>
              <a:rPr sz="900">
                <a:solidFill>
                  <a:srgbClr val="475569"/>
                </a:solidFill>
                <a:latin typeface="Arial"/>
              </a:rPr>
              <a:t>Replaces dry textbook memorization with interactive 3D artifact exploration, timeline navigation, and conversational AI guidance.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Civilizational Pride: </a:t>
            </a:r>
            <a:r>
              <a:rPr sz="900">
                <a:solidFill>
                  <a:srgbClr val="475569"/>
                </a:solidFill>
                <a:latin typeface="Arial"/>
              </a:rPr>
              <a:t>Fosters civilizational pride and active engagement among younger generations through visual and interactive pathways.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2. Cultural Researchers &amp; Educators: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Centralized Reference: </a:t>
            </a:r>
            <a:r>
              <a:rPr sz="900">
                <a:solidFill>
                  <a:srgbClr val="475569"/>
                </a:solidFill>
                <a:latin typeface="Arial"/>
              </a:rPr>
              <a:t>Provides a centralized digital platform linking monuments, artifacts, regional periods, and living traditions with institutional citations.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Accelerated Research: </a:t>
            </a:r>
            <a:r>
              <a:rPr sz="900">
                <a:solidFill>
                  <a:srgbClr val="475569"/>
                </a:solidFill>
                <a:latin typeface="Arial"/>
              </a:rPr>
              <a:t>Accelerates cultural studies with structured epoch relationships, iconography references, and comparative timelines.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3. Traditional Artisans &amp; Craft Communities: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Digital Visibility: </a:t>
            </a:r>
            <a:r>
              <a:rPr sz="900">
                <a:solidFill>
                  <a:srgbClr val="475569"/>
                </a:solidFill>
                <a:latin typeface="Arial"/>
              </a:rPr>
              <a:t>Creates direct digital visibility for indigenous handlooms, terracotta, metalcasting, and regional craftsmanship.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Artisan Discovery: </a:t>
            </a:r>
            <a:r>
              <a:rPr sz="900">
                <a:solidFill>
                  <a:srgbClr val="475569"/>
                </a:solidFill>
                <a:latin typeface="Arial"/>
              </a:rPr>
              <a:t>Connects traditional craftspeople to cultural discovery pathways, fostering greater public awareness and patronage.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4. Cultural Tourists &amp; Heritage Travelers: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Context-First Travel: </a:t>
            </a:r>
            <a:r>
              <a:rPr sz="900">
                <a:solidFill>
                  <a:srgbClr val="475569"/>
                </a:solidFill>
                <a:latin typeface="Arial"/>
              </a:rPr>
              <a:t>Promotes responsible travel, encouraging deeper respect and cultural literacy before visiting physical heritage sites.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Hidden Heritage: </a:t>
            </a:r>
            <a:r>
              <a:rPr sz="900">
                <a:solidFill>
                  <a:srgbClr val="475569"/>
                </a:solidFill>
                <a:latin typeface="Arial"/>
              </a:rPr>
              <a:t>Uncovers hidden, lesser-known regional heritage treasures beyond mainstream crowded tourist landmarks.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950976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Benefits of the solution (social, economic, environmental, etc.)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1. Social &amp; Cultural Benefits: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Heritage Preservation: </a:t>
            </a:r>
            <a:r>
              <a:rPr sz="900">
                <a:solidFill>
                  <a:srgbClr val="475569"/>
                </a:solidFill>
                <a:latin typeface="Arial"/>
              </a:rPr>
              <a:t>Digitally preserves India’s tangible and intangible heritage for future generations.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National Unity: </a:t>
            </a:r>
            <a:r>
              <a:rPr sz="900">
                <a:solidFill>
                  <a:srgbClr val="475569"/>
                </a:solidFill>
                <a:latin typeface="Arial"/>
              </a:rPr>
              <a:t>Fosters intercultural dialogue and civilizational awareness across diverse Indian regions and languages.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2. Educational &amp; Research Benefits: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Open-Access Knowledge: </a:t>
            </a:r>
            <a:r>
              <a:rPr sz="900">
                <a:solidFill>
                  <a:srgbClr val="475569"/>
                </a:solidFill>
                <a:latin typeface="Arial"/>
              </a:rPr>
              <a:t>Delivers an open-access cultural learning repository for schools, universities, and self-directed learners nationwide.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Interdisciplinary Exploration: </a:t>
            </a:r>
            <a:r>
              <a:rPr sz="900">
                <a:solidFill>
                  <a:srgbClr val="475569"/>
                </a:solidFill>
                <a:latin typeface="Arial"/>
              </a:rPr>
              <a:t>Encourages exploration connecting architecture, epigraphy, mythology, and craft sciences.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3. Economic &amp; Community Benefits: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Tourism Dispersal: </a:t>
            </a:r>
            <a:r>
              <a:rPr sz="900">
                <a:solidFill>
                  <a:srgbClr val="475569"/>
                </a:solidFill>
                <a:latin typeface="Arial"/>
              </a:rPr>
              <a:t>Stimulates regional cultural tourism, dispersing economic benefits to rural communities and artisan clusters.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Demand for Crafts: </a:t>
            </a:r>
            <a:r>
              <a:rPr sz="900">
                <a:solidFill>
                  <a:srgbClr val="475569"/>
                </a:solidFill>
                <a:latin typeface="Arial"/>
              </a:rPr>
              <a:t>Increases awareness and demand for authentic traditional craftsmanship and community-made goods.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15803D"/>
                </a:solidFill>
                <a:latin typeface="Arial"/>
              </a:rPr>
              <a:t>4. Digital Preservation &amp; Scalability: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Pan-India Scalability: </a:t>
            </a:r>
            <a:r>
              <a:rPr sz="900">
                <a:solidFill>
                  <a:srgbClr val="475569"/>
                </a:solidFill>
                <a:latin typeface="Arial"/>
              </a:rPr>
              <a:t>Creates a future-ready, resilient digital architecture that scales seamlessly across hundreds of regional sites.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Knowledge Safeguarding: </a:t>
            </a:r>
            <a:r>
              <a:rPr sz="900">
                <a:solidFill>
                  <a:srgbClr val="475569"/>
                </a:solidFill>
                <a:latin typeface="Arial"/>
              </a:rPr>
              <a:t>Safeguards vulnerable cultural knowledge against permanent loss through structured digital documentation.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VirasatX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64592"/>
            <a:ext cx="76196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137160"/>
            <a:ext cx="1691640" cy="49339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510528"/>
            <a:ext cx="10058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50976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70C0"/>
                </a:solidFill>
                <a:latin typeface="Arial"/>
              </a:defRPr>
            </a:pPr>
            <a:r>
              <a:t>• Details / Links of the reference and research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5577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1. Project &amp; Prototype: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  • Live Working Prototype: </a:t>
            </a:r>
            <a:r>
              <a:rPr sz="950">
                <a:solidFill>
                  <a:srgbClr val="0070C0"/>
                </a:solidFill>
                <a:latin typeface="Arial"/>
              </a:rPr>
              <a:t>https://virasatxai.vercel.app/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  • GitHub Source Repository: </a:t>
            </a:r>
            <a:r>
              <a:rPr sz="950">
                <a:solidFill>
                  <a:srgbClr val="0070C0"/>
                </a:solidFill>
                <a:latin typeface="Arial"/>
              </a:rPr>
              <a:t>https://github.com/ShrilCarpenter/VirasatX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  • Core Production Modules: </a:t>
            </a:r>
            <a:r>
              <a:rPr sz="950">
                <a:solidFill>
                  <a:srgbClr val="475569"/>
                </a:solidFill>
                <a:latin typeface="Arial"/>
              </a:rPr>
              <a:t>React 19 • Three.js WebGL • Gemini AI • Supabase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2. Institutional Reference Sources: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Archaeological Survey of India (ASI) </a:t>
            </a:r>
            <a:r>
              <a:rPr sz="850">
                <a:solidFill>
                  <a:srgbClr val="0070C0"/>
                </a:solidFill>
                <a:latin typeface="Arial"/>
              </a:rPr>
              <a:t>(asi.nic.in)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Ministry of Culture, Govt. of India </a:t>
            </a:r>
            <a:r>
              <a:rPr sz="850">
                <a:solidFill>
                  <a:srgbClr val="0070C0"/>
                </a:solidFill>
                <a:latin typeface="Arial"/>
              </a:rPr>
              <a:t>(indiaculture.gov.in)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National Archives of India </a:t>
            </a:r>
            <a:r>
              <a:rPr sz="850">
                <a:solidFill>
                  <a:srgbClr val="0070C0"/>
                </a:solidFill>
                <a:latin typeface="Arial"/>
              </a:rPr>
              <a:t>(nationalarchives.nic.in)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National Mission on Monuments &amp; Antiquities </a:t>
            </a:r>
            <a:r>
              <a:rPr sz="850">
                <a:solidFill>
                  <a:srgbClr val="0070C0"/>
                </a:solidFill>
                <a:latin typeface="Arial"/>
              </a:rPr>
              <a:t>(nmma.nic.in)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Museums of India Portal </a:t>
            </a:r>
            <a:r>
              <a:rPr sz="850">
                <a:solidFill>
                  <a:srgbClr val="0070C0"/>
                </a:solidFill>
                <a:latin typeface="Arial"/>
              </a:rPr>
              <a:t>(museumsofindia.gov.in)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Indira Gandhi National Centre for Arts (IGNCA) </a:t>
            </a:r>
            <a:r>
              <a:rPr sz="850">
                <a:solidFill>
                  <a:srgbClr val="0070C0"/>
                </a:solidFill>
                <a:latin typeface="Arial"/>
              </a:rPr>
              <a:t>(ignca.gov.in)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Vedic Heritage Portal </a:t>
            </a:r>
            <a:r>
              <a:rPr sz="850">
                <a:solidFill>
                  <a:srgbClr val="0070C0"/>
                </a:solidFill>
                <a:latin typeface="Arial"/>
              </a:rPr>
              <a:t>(vedicheritage.gov.in)</a:t>
            </a:r>
          </a:p>
          <a:p>
            <a:pPr>
              <a:spcAft>
                <a:spcPts val="150"/>
              </a:spcAft>
            </a:pPr>
            <a:r>
              <a:rPr sz="900">
                <a:solidFill>
                  <a:srgbClr val="000000"/>
                </a:solidFill>
                <a:latin typeface="Arial"/>
              </a:rPr>
              <a:t>  • UNESCO World Heritage Centre </a:t>
            </a:r>
            <a:r>
              <a:rPr sz="850">
                <a:solidFill>
                  <a:srgbClr val="0070C0"/>
                </a:solidFill>
                <a:latin typeface="Arial"/>
              </a:rPr>
              <a:t>(whc.unesco.org)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32588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 u="sng">
                <a:solidFill>
                  <a:srgbClr val="15803D"/>
                </a:solidFill>
                <a:latin typeface="Arial"/>
              </a:rPr>
              <a:t>3. Technical Standards &amp; Frameworks: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W3C WebGL &amp; WebXR Guidelines: </a:t>
            </a:r>
            <a:r>
              <a:rPr sz="900">
                <a:solidFill>
                  <a:srgbClr val="475569"/>
                </a:solidFill>
                <a:latin typeface="Arial"/>
              </a:rPr>
              <a:t>Mobile-optimized interactive 3D rendering standards.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CIDOC-CRM &amp; Dublin Core: </a:t>
            </a:r>
            <a:r>
              <a:rPr sz="900">
                <a:solidFill>
                  <a:srgbClr val="475569"/>
                </a:solidFill>
                <a:latin typeface="Arial"/>
              </a:rPr>
              <a:t>Global cultural heritage cataloging &amp; semantic metadata models.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DPDP Act 2023 Compliance: </a:t>
            </a:r>
            <a:r>
              <a:rPr sz="900">
                <a:solidFill>
                  <a:srgbClr val="475569"/>
                </a:solidFill>
                <a:latin typeface="Arial"/>
              </a:rPr>
              <a:t>Complete regulatory compliance for citizen data privacy.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00000"/>
                </a:solidFill>
                <a:latin typeface="Arial"/>
              </a:rPr>
              <a:t>  • NEP 2020 Guidelines: </a:t>
            </a:r>
            <a:r>
              <a:rPr sz="900">
                <a:solidFill>
                  <a:srgbClr val="475569"/>
                </a:solidFill>
                <a:latin typeface="Arial"/>
              </a:rPr>
              <a:t>Pedagogical alignment with Indian Knowledge Systems (IKS).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577840" cy="2286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931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1B365D"/>
                </a:solidFill>
                <a:latin typeface="Times New Roman"/>
              </a:defRPr>
            </a:pPr>
            <a:r>
              <a:t>VIRASATX</a:t>
            </a:r>
          </a:p>
          <a:p>
            <a:pPr>
              <a:spcAft>
                <a:spcPts val="400"/>
              </a:spcAft>
              <a:defRPr sz="1100" i="1">
                <a:solidFill>
                  <a:srgbClr val="475569"/>
                </a:solidFill>
                <a:latin typeface="Arial"/>
              </a:defRPr>
            </a:pPr>
            <a:r>
              <a:t>“From scattered heritage knowledge to one connected cultural experience.”</a:t>
            </a:r>
          </a:p>
          <a:p>
            <a:pPr>
              <a:spcAft>
                <a:spcPts val="6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EXPLORE • UNDERSTAND • PRESERVE</a:t>
            </a:r>
          </a:p>
          <a:p>
            <a:pPr>
              <a:defRPr sz="950">
                <a:solidFill>
                  <a:srgbClr val="000000"/>
                </a:solidFill>
                <a:latin typeface="Arial"/>
              </a:defRPr>
            </a:pPr>
            <a:r>
              <a:t>Smart India Hackathon 2026 — Problem Statement ID: SIH26197</a:t>
            </a:r>
            <a:br/>
            <a:r>
              <a:t>Theme: Heritage &amp; Culture • PS Category: Software • Team: Team VirasatX (ID: 57385)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