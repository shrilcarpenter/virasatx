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1B365D"/>
                </a:solidFill>
                <a:latin typeface="Times New Roman"/>
              </a:defRPr>
            </a:pPr>
            <a:r>
              <a:t>SMART INDIA HACKATHON 2026</a:t>
            </a:r>
          </a:p>
        </p:txBody>
      </p:sp>
      <p:pic>
        <p:nvPicPr>
          <p:cNvPr id="3" name="Picture 2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182880"/>
            <a:ext cx="1828800" cy="533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71600" y="1188720"/>
            <a:ext cx="94484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 b="1">
                <a:solidFill>
                  <a:srgbClr val="000000"/>
                </a:solidFill>
                <a:latin typeface="Arial"/>
              </a:defRPr>
            </a:pPr>
            <a:r>
              <a:t>TITLE PAGE</a:t>
            </a:r>
          </a:p>
        </p:txBody>
      </p:sp>
      <p:pic>
        <p:nvPicPr>
          <p:cNvPr id="5" name="Picture 4" descr="sih_bu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371600"/>
            <a:ext cx="3474720" cy="39090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96596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• Problem Statement ID –</a:t>
            </a:r>
            <a:r>
              <a:rPr sz="1700" b="1" u="sng">
                <a:solidFill>
                  <a:srgbClr val="000000"/>
                </a:solidFill>
                <a:latin typeface="Arial"/>
              </a:rPr>
              <a:t>SIH26197</a:t>
            </a:r>
          </a:p>
          <a:p>
            <a:pPr>
              <a:spcAft>
                <a:spcPts val="1300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• Problem Statement Title-</a:t>
            </a:r>
            <a:r>
              <a:rPr sz="1650" b="1" u="none">
                <a:solidFill>
                  <a:srgbClr val="000000"/>
                </a:solidFill>
                <a:latin typeface="Arial"/>
              </a:rPr>
              <a:t>Development of AI-powered Digital Heritage Repository &amp; WebGIS-based Decision Support System (DSS) for Cultural Preservation, Provenance &amp; Living Traditions.
(States to be concentrated: Madhya Pradesh, Tripura , Odisha, Telangana, Rajasthan)</a:t>
            </a:r>
          </a:p>
          <a:p>
            <a:pPr>
              <a:spcAft>
                <a:spcPts val="1300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• Theme-</a:t>
            </a:r>
            <a:r>
              <a:rPr sz="1700" b="1" u="sng">
                <a:solidFill>
                  <a:srgbClr val="000000"/>
                </a:solidFill>
                <a:latin typeface="Arial"/>
              </a:rPr>
              <a:t>Miscellaneous</a:t>
            </a:r>
          </a:p>
          <a:p>
            <a:pPr>
              <a:spcAft>
                <a:spcPts val="1300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• PS Category- </a:t>
            </a:r>
            <a:r>
              <a:rPr sz="1700" b="1" u="sng">
                <a:solidFill>
                  <a:srgbClr val="000000"/>
                </a:solidFill>
                <a:latin typeface="Arial"/>
              </a:rPr>
              <a:t>Software</a:t>
            </a:r>
          </a:p>
          <a:p>
            <a:pPr>
              <a:spcAft>
                <a:spcPts val="1300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• Team ID- </a:t>
            </a:r>
            <a:r>
              <a:rPr sz="1700" b="1" u="none">
                <a:solidFill>
                  <a:srgbClr val="000000"/>
                </a:solidFill>
                <a:latin typeface="Arial"/>
              </a:rPr>
              <a:t>57385</a:t>
            </a:r>
          </a:p>
          <a:p>
            <a:pPr>
              <a:spcAft>
                <a:spcPts val="1300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• Team Name- </a:t>
            </a:r>
            <a:r>
              <a:rPr sz="1700" b="1" u="none">
                <a:solidFill>
                  <a:srgbClr val="000000"/>
                </a:solidFill>
                <a:latin typeface="Arial"/>
              </a:rPr>
              <a:t>Team VirasatX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327648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latin typeface="Arial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164592"/>
            <a:ext cx="1691640" cy="685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Team</a:t>
            </a:r>
          </a:p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VirasatX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291840" y="164592"/>
            <a:ext cx="5577840" cy="685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00000"/>
                </a:solidFill>
                <a:latin typeface="Arial"/>
              </a:defRPr>
            </a:pPr>
            <a:r>
              <a:t>IDEA TITLE</a:t>
            </a:r>
          </a:p>
        </p:txBody>
      </p:sp>
      <p:pic>
        <p:nvPicPr>
          <p:cNvPr id="4" name="Picture 3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137160"/>
            <a:ext cx="1691640" cy="4933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338560" y="6327648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000000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87552"/>
            <a:ext cx="5486400" cy="5257800"/>
          </a:xfrm>
          <a:prstGeom prst="rect">
            <a:avLst/>
          </a:prstGeom>
          <a:solidFill>
            <a:srgbClr val="FFFFFF"/>
          </a:solidFill>
          <a:ln w="228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051560"/>
            <a:ext cx="53035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0070C0"/>
                </a:solidFill>
                <a:latin typeface="Arial"/>
              </a:defRPr>
            </a:pPr>
            <a:r>
              <a:t>❖ Proposed Solution:</a:t>
            </a:r>
          </a:p>
          <a:p>
            <a:pPr>
              <a:spcAft>
                <a:spcPts val="4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• Unified Digital Heritage Portal :
</a:t>
            </a:r>
            <a:r>
              <a:rPr sz="1050">
                <a:solidFill>
                  <a:srgbClr val="000000"/>
                </a:solidFill>
                <a:latin typeface="Arial"/>
              </a:rPr>
              <a:t>  Comprehensive repository linking monuments, artifacts, manuscripts, and living traditions.</a:t>
            </a:r>
          </a:p>
          <a:p>
            <a:pPr>
              <a:spcAft>
                <a:spcPts val="4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• Digital Witness &amp; Testimony:
</a:t>
            </a:r>
            <a:r>
              <a:rPr sz="1050">
                <a:solidFill>
                  <a:srgbClr val="000000"/>
                </a:solidFill>
                <a:latin typeface="Arial"/>
              </a:rPr>
              <a:t>  Oral histories, artisan testimonies, and video records stored securely as valid proof.</a:t>
            </a:r>
          </a:p>
          <a:p>
            <a:pPr>
              <a:spcAft>
                <a:spcPts val="4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• Title Insurance / Digital Patta :
</a:t>
            </a:r>
            <a:r>
              <a:rPr sz="1050">
                <a:solidFill>
                  <a:srgbClr val="000000"/>
                </a:solidFill>
                <a:latin typeface="Arial"/>
              </a:rPr>
              <a:t>  Ensures authenticity with secure blockchain-backed provenance and artifact registration.</a:t>
            </a:r>
          </a:p>
          <a:p>
            <a:pPr>
              <a:spcAft>
                <a:spcPts val="4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• Grievance Resolution &amp; Illegal Alerts:
</a:t>
            </a:r>
            <a:r>
              <a:rPr sz="1050">
                <a:solidFill>
                  <a:srgbClr val="000000"/>
                </a:solidFill>
                <a:latin typeface="Arial"/>
              </a:rPr>
              <a:t>  Efficient heritage grievance handling and unauthorized land encroachment warnings.</a:t>
            </a:r>
          </a:p>
          <a:p>
            <a:pPr>
              <a:spcAft>
                <a:spcPts val="4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• AI Disciplinary Dashboard :
</a:t>
            </a:r>
            <a:r>
              <a:rPr sz="1050">
                <a:solidFill>
                  <a:srgbClr val="000000"/>
                </a:solidFill>
                <a:latin typeface="Arial"/>
              </a:rPr>
              <a:t>  Suggests actions and tracks officer and institutional cataloging accountability.</a:t>
            </a:r>
          </a:p>
          <a:p>
            <a:pPr>
              <a:spcAft>
                <a:spcPts val="4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• Analytics-Driven Officer Monitoring:
</a:t>
            </a:r>
            <a:r>
              <a:rPr sz="1050">
                <a:solidFill>
                  <a:srgbClr val="000000"/>
                </a:solidFill>
                <a:latin typeface="Arial"/>
              </a:rPr>
              <a:t>  Tracks verification time, claim outcomes, and conservation grievances reported.</a:t>
            </a:r>
          </a:p>
          <a:p>
            <a:pPr>
              <a:spcAft>
                <a:spcPts val="4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• Interactive Virasat Web-GIS Atlas:
</a:t>
            </a:r>
            <a:r>
              <a:rPr sz="1050">
                <a:solidFill>
                  <a:srgbClr val="000000"/>
                </a:solidFill>
                <a:latin typeface="Arial"/>
              </a:rPr>
              <a:t>  Dynamic platform for exploring heritage assets, ancient corridors, and excavation sites.</a:t>
            </a:r>
          </a:p>
          <a:p>
            <a:pPr>
              <a:spcAft>
                <a:spcPts val="4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• AI Disputes Mediator:
</a:t>
            </a:r>
            <a:r>
              <a:rPr sz="1050">
                <a:solidFill>
                  <a:srgbClr val="000000"/>
                </a:solidFill>
                <a:latin typeface="Arial"/>
              </a:rPr>
              <a:t>  Resolving conflicts and contested claims within existing legal frameworks.</a:t>
            </a:r>
          </a:p>
          <a:p>
            <a:pPr>
              <a:spcAft>
                <a:spcPts val="4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• GI Tagging and E-Signature :
</a:t>
            </a:r>
            <a:r>
              <a:rPr sz="1050">
                <a:solidFill>
                  <a:srgbClr val="000000"/>
                </a:solidFill>
                <a:latin typeface="Arial"/>
              </a:rPr>
              <a:t>  To preserve cultural heritage safeguard traditional products and paperless approval .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0760" y="987552"/>
            <a:ext cx="5715000" cy="5257800"/>
          </a:xfrm>
          <a:prstGeom prst="rect">
            <a:avLst/>
          </a:prstGeom>
          <a:solidFill>
            <a:srgbClr val="FFFFFF"/>
          </a:solidFill>
          <a:ln w="228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virasatx_flow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033271"/>
            <a:ext cx="5623560" cy="5166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164592"/>
            <a:ext cx="1691640" cy="685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Team</a:t>
            </a:r>
          </a:p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VirasatX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291840" y="164592"/>
            <a:ext cx="5577840" cy="685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00000"/>
                </a:solidFill>
                <a:latin typeface="Arial"/>
              </a:defRPr>
            </a:pPr>
            <a:r>
              <a:t>TECHNICAL APPROACH</a:t>
            </a:r>
          </a:p>
        </p:txBody>
      </p:sp>
      <p:pic>
        <p:nvPicPr>
          <p:cNvPr id="4" name="Picture 3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137160"/>
            <a:ext cx="1691640" cy="4933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338560" y="6327648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000000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87552"/>
            <a:ext cx="5486400" cy="2606040"/>
          </a:xfrm>
          <a:prstGeom prst="rect">
            <a:avLst/>
          </a:prstGeom>
          <a:solidFill>
            <a:srgbClr val="FFFFFF"/>
          </a:solidFill>
          <a:ln w="228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024128"/>
            <a:ext cx="530352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950" b="1" u="sng">
                <a:solidFill>
                  <a:srgbClr val="15803D"/>
                </a:solidFill>
                <a:latin typeface="Arial"/>
              </a:rPr>
              <a:t>• Data Extraction: </a:t>
            </a:r>
            <a:r>
              <a:rPr sz="950">
                <a:solidFill>
                  <a:srgbClr val="000000"/>
                </a:solidFill>
                <a:latin typeface="Arial"/>
              </a:rPr>
              <a:t>Optical Character Recogntion(OCR), NLP.</a:t>
            </a:r>
          </a:p>
          <a:p>
            <a:pPr>
              <a:spcAft>
                <a:spcPts val="200"/>
              </a:spcAft>
            </a:pPr>
            <a:r>
              <a:rPr sz="950" b="1" u="sng">
                <a:solidFill>
                  <a:srgbClr val="15803D"/>
                </a:solidFill>
                <a:latin typeface="Arial"/>
              </a:rPr>
              <a:t>• WebGIS platform: </a:t>
            </a:r>
            <a:r>
              <a:rPr sz="950">
                <a:solidFill>
                  <a:srgbClr val="000000"/>
                </a:solidFill>
                <a:latin typeface="Arial"/>
              </a:rPr>
              <a:t>Leaflet.js(for interactive maps).</a:t>
            </a:r>
          </a:p>
          <a:p>
            <a:pPr>
              <a:spcAft>
                <a:spcPts val="200"/>
              </a:spcAft>
            </a:pPr>
            <a:r>
              <a:rPr sz="950" b="1" u="sng">
                <a:solidFill>
                  <a:srgbClr val="15803D"/>
                </a:solidFill>
                <a:latin typeface="Arial"/>
              </a:rPr>
              <a:t>• Asset Mapping: </a:t>
            </a:r>
            <a:r>
              <a:rPr sz="950">
                <a:solidFill>
                  <a:srgbClr val="000000"/>
                </a:solidFill>
                <a:latin typeface="Arial"/>
              </a:rPr>
              <a:t>Random Forest &amp; CNN.</a:t>
            </a:r>
          </a:p>
          <a:p>
            <a:pPr>
              <a:spcAft>
                <a:spcPts val="200"/>
              </a:spcAft>
            </a:pPr>
            <a:r>
              <a:rPr sz="950" b="1" u="sng">
                <a:solidFill>
                  <a:srgbClr val="15803D"/>
                </a:solidFill>
                <a:latin typeface="Arial"/>
              </a:rPr>
              <a:t>• Data Storage: </a:t>
            </a:r>
            <a:r>
              <a:rPr sz="950">
                <a:solidFill>
                  <a:srgbClr val="000000"/>
                </a:solidFill>
                <a:latin typeface="Arial"/>
              </a:rPr>
              <a:t>PostgreSQl &amp; PostGIS(for geospatial data).</a:t>
            </a:r>
          </a:p>
          <a:p>
            <a:pPr>
              <a:spcAft>
                <a:spcPts val="200"/>
              </a:spcAft>
            </a:pPr>
            <a:r>
              <a:rPr sz="950" b="1" u="sng">
                <a:solidFill>
                  <a:srgbClr val="15803D"/>
                </a:solidFill>
                <a:latin typeface="Arial"/>
              </a:rPr>
              <a:t>• Data Management: </a:t>
            </a:r>
            <a:r>
              <a:rPr sz="950">
                <a:solidFill>
                  <a:srgbClr val="000000"/>
                </a:solidFill>
                <a:latin typeface="Arial"/>
              </a:rPr>
              <a:t>Cloud Object Storage &amp; MySQL(Structured).</a:t>
            </a:r>
          </a:p>
          <a:p>
            <a:pPr>
              <a:spcAft>
                <a:spcPts val="200"/>
              </a:spcAft>
            </a:pPr>
            <a:r>
              <a:rPr sz="950" b="1" u="sng">
                <a:solidFill>
                  <a:srgbClr val="15803D"/>
                </a:solidFill>
                <a:latin typeface="Arial"/>
              </a:rPr>
              <a:t>• GeoServer: </a:t>
            </a:r>
            <a:r>
              <a:rPr sz="950">
                <a:solidFill>
                  <a:srgbClr val="000000"/>
                </a:solidFill>
                <a:latin typeface="Arial"/>
              </a:rPr>
              <a:t>Use standard protocols WMS and WFS to serve maps.</a:t>
            </a:r>
          </a:p>
          <a:p>
            <a:pPr>
              <a:spcAft>
                <a:spcPts val="200"/>
              </a:spcAft>
            </a:pPr>
            <a:r>
              <a:rPr sz="950" b="1" u="sng">
                <a:solidFill>
                  <a:srgbClr val="15803D"/>
                </a:solidFill>
                <a:latin typeface="Arial"/>
              </a:rPr>
              <a:t>• Decision Support System: </a:t>
            </a:r>
            <a:r>
              <a:rPr sz="950">
                <a:solidFill>
                  <a:srgbClr val="000000"/>
                </a:solidFill>
                <a:latin typeface="Arial"/>
              </a:rPr>
              <a:t>for scheme recommendations.</a:t>
            </a:r>
          </a:p>
          <a:p>
            <a:pPr>
              <a:spcAft>
                <a:spcPts val="200"/>
              </a:spcAft>
            </a:pPr>
            <a:r>
              <a:rPr sz="950" b="1" u="sng">
                <a:solidFill>
                  <a:srgbClr val="15803D"/>
                </a:solidFill>
                <a:latin typeface="Arial"/>
              </a:rPr>
              <a:t>• Blockchain based Security: </a:t>
            </a:r>
            <a:r>
              <a:rPr sz="950">
                <a:solidFill>
                  <a:srgbClr val="000000"/>
                </a:solidFill>
                <a:latin typeface="Arial"/>
              </a:rPr>
              <a:t>Hyperledger Fabric.</a:t>
            </a:r>
          </a:p>
          <a:p>
            <a:pPr>
              <a:spcAft>
                <a:spcPts val="200"/>
              </a:spcAft>
            </a:pPr>
            <a:r>
              <a:rPr sz="950" b="1" u="sng">
                <a:solidFill>
                  <a:srgbClr val="15803D"/>
                </a:solidFill>
                <a:latin typeface="Arial"/>
              </a:rPr>
              <a:t>• Key Lock Framework: </a:t>
            </a:r>
            <a:r>
              <a:rPr sz="950">
                <a:solidFill>
                  <a:srgbClr val="000000"/>
                </a:solidFill>
                <a:latin typeface="Arial"/>
              </a:rPr>
              <a:t>Open-source Identity &amp; Access Management</a:t>
            </a:r>
          </a:p>
          <a:p>
            <a:pPr>
              <a:spcAft>
                <a:spcPts val="200"/>
              </a:spcAft>
            </a:pPr>
            <a:r>
              <a:rPr sz="950" b="1" u="sng">
                <a:solidFill>
                  <a:srgbClr val="15803D"/>
                </a:solidFill>
                <a:latin typeface="Arial"/>
              </a:rPr>
              <a:t>• Rasa: </a:t>
            </a:r>
            <a:r>
              <a:rPr sz="950">
                <a:solidFill>
                  <a:srgbClr val="000000"/>
                </a:solidFill>
                <a:latin typeface="Arial"/>
              </a:rPr>
              <a:t>Preferred for its offline, multilingual, and secure chatbot.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3703320"/>
            <a:ext cx="5486400" cy="2542032"/>
          </a:xfrm>
          <a:prstGeom prst="rect">
            <a:avLst/>
          </a:prstGeom>
          <a:solidFill>
            <a:srgbClr val="FFFFFF"/>
          </a:solidFill>
          <a:ln w="228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" y="3730752"/>
            <a:ext cx="5431536" cy="2240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5989320"/>
            <a:ext cx="5394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Arial"/>
              </a:defRPr>
            </a:pPr>
            <a:r>
              <a:t>User Interface: It is a draft version, subject to future updates.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0760" y="987552"/>
            <a:ext cx="5715000" cy="5257800"/>
          </a:xfrm>
          <a:prstGeom prst="rect">
            <a:avLst/>
          </a:prstGeom>
          <a:solidFill>
            <a:srgbClr val="FFFFFF"/>
          </a:solidFill>
          <a:ln w="228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virasatx_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1033271"/>
            <a:ext cx="5623560" cy="5166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164592"/>
            <a:ext cx="1691640" cy="685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Team</a:t>
            </a:r>
          </a:p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VirasatX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291840" y="164592"/>
            <a:ext cx="5577840" cy="685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00000"/>
                </a:solidFill>
                <a:latin typeface="Arial"/>
              </a:defRPr>
            </a:pPr>
            <a:r>
              <a:t>FEASIBILITY AND VIABILITY</a:t>
            </a:r>
          </a:p>
        </p:txBody>
      </p:sp>
      <p:pic>
        <p:nvPicPr>
          <p:cNvPr id="4" name="Picture 3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137160"/>
            <a:ext cx="1691640" cy="4933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338560" y="6327648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000000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87552"/>
            <a:ext cx="5486400" cy="5257800"/>
          </a:xfrm>
          <a:prstGeom prst="rect">
            <a:avLst/>
          </a:prstGeom>
          <a:solidFill>
            <a:srgbClr val="FFFFFF"/>
          </a:solidFill>
          <a:ln w="228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051560"/>
            <a:ext cx="53035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0070C0"/>
                </a:solidFill>
                <a:latin typeface="Arial"/>
              </a:defRPr>
            </a:pPr>
            <a:r>
              <a:t>❖ Feasibility:</a:t>
            </a:r>
          </a:p>
          <a:p>
            <a:pPr>
              <a:spcAft>
                <a:spcPts val="2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1. Technical Feasibility:</a:t>
            </a:r>
          </a:p>
          <a:p>
            <a:pPr>
              <a:spcAft>
                <a:spcPts val="10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1.Digitization, AI Mapping and Web-GIS Dashboards: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OCR and AI extract data from documents.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Web-GIS dashboards show real-time interactive maps.</a:t>
            </a:r>
          </a:p>
          <a:p>
            <a:pPr>
              <a:spcAft>
                <a:spcPts val="10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2. DSS Integration with Blockchain Security: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AI engines match schemes to community needs.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Blockchain ensures secure, tamper-proof digital records.</a:t>
            </a:r>
          </a:p>
          <a:p>
            <a:pPr>
              <a:spcAft>
                <a:spcPts val="2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2. Operational Feasibility:</a:t>
            </a:r>
          </a:p>
          <a:p>
            <a:pPr>
              <a:spcAft>
                <a:spcPts val="10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1.Existing Setup and Simple Staff Training: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Government data exists, needs proper connection.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Staff need basic training through short workshops.</a:t>
            </a:r>
          </a:p>
          <a:p>
            <a:pPr>
              <a:spcAft>
                <a:spcPts val="10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2. Stakeholder Support and Effective Heritage Implementation: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Ministries and NGOs already support cultural preservation schemes.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System strengthens efforts, not replacing existing work.</a:t>
            </a:r>
          </a:p>
          <a:p>
            <a:pPr>
              <a:spcAft>
                <a:spcPts val="2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3. Legal &amp; Ethical Feasibility:</a:t>
            </a:r>
          </a:p>
          <a:p>
            <a:pPr>
              <a:spcAft>
                <a:spcPts val="10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1.Data Privacy: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Must follow India’s DPDP Act, ensuring legal compliance.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Blockchain and encryption safeguard sensitive user data.</a:t>
            </a:r>
          </a:p>
          <a:p>
            <a:pPr>
              <a:spcAft>
                <a:spcPts val="10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2. Consent Mechanism: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Artisan and community informed consent required in all processes.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Real-time feedback enables secure two-way communication.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0760" y="987552"/>
            <a:ext cx="5715000" cy="5257800"/>
          </a:xfrm>
          <a:prstGeom prst="rect">
            <a:avLst/>
          </a:prstGeom>
          <a:solidFill>
            <a:srgbClr val="FFFFFF"/>
          </a:solidFill>
          <a:ln w="228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72200" y="1051560"/>
            <a:ext cx="5532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0070C0"/>
                </a:solidFill>
                <a:latin typeface="Arial"/>
              </a:defRPr>
            </a:pPr>
            <a:r>
              <a:t>❖ Viability:</a:t>
            </a:r>
          </a:p>
          <a:p>
            <a:pPr>
              <a:spcAft>
                <a:spcPts val="2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1. Economic Viability:</a:t>
            </a:r>
          </a:p>
          <a:p>
            <a:pPr>
              <a:spcAft>
                <a:spcPts val="10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1.Cost-Effective &amp; Efficient: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Saves paperwork, effort, duplication, and reduces fraud.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Cuts processing delays, expenses, and operational overhead.</a:t>
            </a:r>
          </a:p>
          <a:p>
            <a:pPr>
              <a:spcAft>
                <a:spcPts val="10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2. Supported &amp; Scalable Technology: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Backed by government programs and tribal inclusion schemes.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Open-source tech ensures flexible, low-cost,future-ready deployment.</a:t>
            </a:r>
          </a:p>
          <a:p>
            <a:pPr>
              <a:spcAft>
                <a:spcPts val="2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2. Social Viability:</a:t>
            </a:r>
          </a:p>
          <a:p>
            <a:pPr>
              <a:spcAft>
                <a:spcPts val="10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1. Empowers Communities &amp; Improves Scheme Access: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Provides transparency, secure records, better documentation.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Directly benefits artisans &amp; custodians through scheme access.</a:t>
            </a:r>
          </a:p>
          <a:p>
            <a:pPr>
              <a:spcAft>
                <a:spcPts val="10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2. Reduces Conflict &amp; Promotes Stronger Inclusion: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Verified records, alerts reduce frequent attribution disputes.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Mobile updates, two-way communication improve engagement.</a:t>
            </a:r>
          </a:p>
          <a:p>
            <a:pPr>
              <a:spcAft>
                <a:spcPts val="2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3. Scalability:</a:t>
            </a:r>
          </a:p>
          <a:p>
            <a:pPr>
              <a:spcAft>
                <a:spcPts val="10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1. Pan-India Expansion for Wider Community Benefits: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Pilot in districts, then scale across India.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Adjust platform easily for local data.</a:t>
            </a:r>
          </a:p>
          <a:p>
            <a:pPr>
              <a:spcAft>
                <a:spcPts val="10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2. Cross-Sector Use of WebGIS + DSS: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Adaptable for agriculture, urban development needs.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Useful in disaster management and planning.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164592"/>
            <a:ext cx="1691640" cy="685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Team</a:t>
            </a:r>
          </a:p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VirasatX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291840" y="164592"/>
            <a:ext cx="5577840" cy="685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00000"/>
                </a:solidFill>
                <a:latin typeface="Arial"/>
              </a:defRPr>
            </a:pPr>
            <a:r>
              <a:t>IMPACT AND BENEFITS</a:t>
            </a:r>
          </a:p>
        </p:txBody>
      </p:sp>
      <p:pic>
        <p:nvPicPr>
          <p:cNvPr id="4" name="Picture 3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137160"/>
            <a:ext cx="1691640" cy="4933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338560" y="6327648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000000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87552"/>
            <a:ext cx="5486400" cy="5257800"/>
          </a:xfrm>
          <a:prstGeom prst="rect">
            <a:avLst/>
          </a:prstGeom>
          <a:solidFill>
            <a:srgbClr val="FFFFFF"/>
          </a:solidFill>
          <a:ln w="228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051560"/>
            <a:ext cx="53035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0070C0"/>
                </a:solidFill>
                <a:latin typeface="Arial"/>
              </a:defRPr>
            </a:pPr>
            <a:r>
              <a:t>❖ Benefits:</a:t>
            </a:r>
          </a:p>
          <a:p>
            <a:pPr>
              <a:spcAft>
                <a:spcPts val="2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1.Social Benefits: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Digital platform enables communities with cultural rights tracking.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IVR helpline, e-learning ensure inclusive literacy access.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Transparent records, video testimonies reduce conflict, build trust.</a:t>
            </a:r>
          </a:p>
          <a:p>
            <a:pPr>
              <a:spcAft>
                <a:spcPts val="2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2. Environmental Benefits: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Sustainable site usage by recognized communities &amp; travelers.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Conservation through community stewardship.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GI Tagging preserves cultural heritage &amp; traditional products.</a:t>
            </a:r>
          </a:p>
          <a:p>
            <a:pPr>
              <a:spcAft>
                <a:spcPts val="2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3. Economic Benefits: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Access to schemes (MGNREGA, PM-KISAN, DAGAJU, Jal Jeevan Mission)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GI Tagging boosts local products &amp; tribal livelihoods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Title insurance &amp; digital patta ensure secure land ownership → easier loans &amp; income stability</a:t>
            </a:r>
          </a:p>
          <a:p>
            <a:pPr>
              <a:spcAft>
                <a:spcPts val="2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4. Governance Benefits: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Audit trails ensure accountability, prevent misuse.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Whistleblowing portal boosts transparency, fights corruption.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Cross-validation stops duplication and fraudulent claims.</a:t>
            </a:r>
          </a:p>
          <a:p>
            <a:pPr>
              <a:spcAft>
                <a:spcPts val="2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5.Legal &amp; Security Benefits: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E-Signature &amp; Digital Patta provide legally valid ownership records.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Protection against land encroachment (Illegal Practice Alert).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Digital witness/testimony ensures fair dispute settlement.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0760" y="987552"/>
            <a:ext cx="5715000" cy="5257800"/>
          </a:xfrm>
          <a:prstGeom prst="rect">
            <a:avLst/>
          </a:prstGeom>
          <a:solidFill>
            <a:srgbClr val="FFFFFF"/>
          </a:solidFill>
          <a:ln w="228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72200" y="1051560"/>
            <a:ext cx="5532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0070C0"/>
                </a:solidFill>
                <a:latin typeface="Arial"/>
              </a:defRPr>
            </a:pPr>
            <a:r>
              <a:t>❖ Impacts:</a:t>
            </a:r>
          </a:p>
          <a:p>
            <a:pPr>
              <a:spcAft>
                <a:spcPts val="2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1.Secure Cultural Rights &amp; Transparency: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Communities track claims, reducing corruption and fraud.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Digital patta ensures authenticity in land ownership records.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Builds trust between citizens and government authorities.</a:t>
            </a:r>
          </a:p>
          <a:p>
            <a:pPr>
              <a:spcAft>
                <a:spcPts val="2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2. Heritage Protection &amp; Conservation with AI: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AI monitors land to prevent illegal encroachment.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Conserves biodiversity and safeguards natural resources.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Promotes sustainable, community-driven cultural preservation.</a:t>
            </a:r>
          </a:p>
          <a:p>
            <a:pPr>
              <a:spcAft>
                <a:spcPts val="2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3. Boost Livelihoods &amp; Local Development: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Resource planning improves incomes and rural economy.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GI tagging protects heritage, boosts local products.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VirasatX enables fair access to welfare schemes.</a:t>
            </a:r>
          </a:p>
          <a:p>
            <a:pPr>
              <a:spcAft>
                <a:spcPts val="2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4. Digital, Eco-Friendly &amp; Cost Effective: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Reduces paperwork,ensuring greener, eco-friendly governance.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Preserves tribal knowledge through digital archiving tools.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Lowers administrative costs and increases efficiency.</a:t>
            </a:r>
          </a:p>
          <a:p>
            <a:pPr>
              <a:spcAft>
                <a:spcPts val="2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5. Smart, Transparent &amp; Scalable Governance: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Transparent dashboards track officer performance and claims.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AI dispute mediation ensures fairness, reduces human bias.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Unified digital platform enables future-ready expansion.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164592"/>
            <a:ext cx="1691640" cy="685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Team</a:t>
            </a:r>
          </a:p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VirasatX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291840" y="164592"/>
            <a:ext cx="5577840" cy="685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00000"/>
                </a:solidFill>
                <a:latin typeface="Arial"/>
              </a:defRPr>
            </a:pPr>
            <a:r>
              <a:t>RESEARCH AND REFERENCES</a:t>
            </a:r>
          </a:p>
        </p:txBody>
      </p:sp>
      <p:pic>
        <p:nvPicPr>
          <p:cNvPr id="4" name="Picture 3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137160"/>
            <a:ext cx="1691640" cy="4933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338560" y="6327648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000000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87552"/>
            <a:ext cx="11384280" cy="5257800"/>
          </a:xfrm>
          <a:prstGeom prst="rect">
            <a:avLst/>
          </a:prstGeom>
          <a:solidFill>
            <a:srgbClr val="FFFFFF"/>
          </a:solidFill>
          <a:ln w="228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78992"/>
            <a:ext cx="11109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150" b="1" u="sng">
                <a:solidFill>
                  <a:srgbClr val="15803D"/>
                </a:solidFill>
                <a:latin typeface="Arial"/>
              </a:rPr>
              <a:t>1. AMASR Act &amp; NMM: </a:t>
            </a:r>
            <a:r>
              <a:rPr sz="1100">
                <a:solidFill>
                  <a:srgbClr val="000000"/>
                </a:solidFill>
                <a:latin typeface="Arial"/>
              </a:rPr>
              <a:t>The Ancient Monuments and Archaeological Sites and Remains Act, 1958 and National Mission on Manuscripts (NMM) provide statutory framework for heritage protection.
https://asi.nic.in/
https://www.namami.gov.in/</a:t>
            </a:r>
          </a:p>
          <a:p>
            <a:pPr>
              <a:spcAft>
                <a:spcPts val="1000"/>
              </a:spcAft>
            </a:pPr>
            <a:r>
              <a:rPr sz="1150" b="1" u="sng">
                <a:solidFill>
                  <a:srgbClr val="15803D"/>
                </a:solidFill>
                <a:latin typeface="Arial"/>
              </a:rPr>
              <a:t>2. Best Practices for Web Security: </a:t>
            </a:r>
            <a:r>
              <a:rPr sz="1100">
                <a:solidFill>
                  <a:srgbClr val="000000"/>
                </a:solidFill>
                <a:latin typeface="Arial"/>
              </a:rPr>
              <a:t>OWASP Top 10 API Security &amp; Blockchain Verification Standard for Immutable Provenance.
https://owasp.org/www-project-blockchain-appsec-standard/</a:t>
            </a:r>
          </a:p>
          <a:p>
            <a:pPr>
              <a:spcAft>
                <a:spcPts val="1000"/>
              </a:spcAft>
            </a:pPr>
            <a:r>
              <a:rPr sz="1150" b="1" u="sng">
                <a:solidFill>
                  <a:srgbClr val="15803D"/>
                </a:solidFill>
                <a:latin typeface="Arial"/>
              </a:rPr>
              <a:t>3. The Antiquities and Art Treasures Act: </a:t>
            </a:r>
            <a:r>
              <a:rPr sz="1100">
                <a:solidFill>
                  <a:srgbClr val="000000"/>
                </a:solidFill>
                <a:latin typeface="Arial"/>
              </a:rPr>
              <a:t>1972 aims to regulate export trade in antiquities and art treasures, preventing illicit smuggling and unauthorized sales.
https://asi.nic.in/antiquities-art-treasures-act/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000000"/>
                </a:solidFill>
                <a:latin typeface="Arial"/>
              </a:rPr>
              <a:t>To enable smooth implementation and integration of the Virasat Atlas System, the following contacts serve as official state-level resources for communication, data coordination, and support:</a:t>
            </a:r>
          </a:p>
          <a:p>
            <a:pPr>
              <a:spcAft>
                <a:spcPts val="5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4. Archaeological Survey of India (ASI): </a:t>
            </a:r>
            <a:r>
              <a:rPr sz="1100">
                <a:solidFill>
                  <a:srgbClr val="0070C0"/>
                </a:solidFill>
                <a:latin typeface="Arial"/>
              </a:rPr>
              <a:t>contact.asi@gov.in</a:t>
            </a:r>
          </a:p>
          <a:p>
            <a:pPr>
              <a:spcAft>
                <a:spcPts val="5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5. National Mission on Manuscripts (IGNCA): </a:t>
            </a:r>
            <a:r>
              <a:rPr sz="1100">
                <a:solidFill>
                  <a:srgbClr val="0070C0"/>
                </a:solidFill>
                <a:latin typeface="Arial"/>
              </a:rPr>
              <a:t>director.nmm@ignca.nic.in</a:t>
            </a:r>
          </a:p>
          <a:p>
            <a:pPr>
              <a:spcAft>
                <a:spcPts val="5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6. Ministry of Culture, Govt. of India: </a:t>
            </a:r>
            <a:r>
              <a:rPr sz="1100">
                <a:solidFill>
                  <a:srgbClr val="0070C0"/>
                </a:solidFill>
                <a:latin typeface="Arial"/>
              </a:rPr>
              <a:t>https://www.indiaculture.gov.in/</a:t>
            </a:r>
          </a:p>
          <a:p>
            <a:pPr>
              <a:spcAft>
                <a:spcPts val="5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7. National Portal of India (Cultural Heritage): </a:t>
            </a:r>
            <a:r>
              <a:rPr sz="1100">
                <a:solidFill>
                  <a:srgbClr val="0070C0"/>
                </a:solidFill>
                <a:latin typeface="Arial"/>
              </a:rPr>
              <a:t>https://www.india.gov.in/topics/art-culture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