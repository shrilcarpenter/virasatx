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B365D"/>
                </a:solidFill>
                <a:latin typeface="Times New Roman"/>
              </a:defRPr>
            </a:pPr>
            <a:r>
              <a:t>SMART INDIA HACKATHON 2026</a:t>
            </a:r>
          </a:p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828800" cy="53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1115568"/>
            <a:ext cx="94484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Arial"/>
              </a:defRPr>
            </a:pPr>
            <a:r>
              <a:t>VIRASATX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72768"/>
            <a:ext cx="9448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50" b="1">
                <a:solidFill>
                  <a:srgbClr val="1E293B"/>
                </a:solidFill>
                <a:latin typeface="Arial"/>
              </a:defRPr>
            </a:pPr>
            <a:r>
              <a:t>India’s Heritage, Understood, Preserved &amp; Experienced</a:t>
            </a:r>
          </a:p>
        </p:txBody>
      </p:sp>
      <p:pic>
        <p:nvPicPr>
          <p:cNvPr id="6" name="Picture 5" descr="sih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417320"/>
            <a:ext cx="3474720" cy="39090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9659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 b="1">
                <a:solidFill>
                  <a:srgbClr val="000000"/>
                </a:solidFill>
                <a:latin typeface="Arial"/>
              </a:rPr>
              <a:t>• Problem Statement ID – </a:t>
            </a:r>
            <a:r>
              <a:rPr sz="1550" b="1" u="sng">
                <a:solidFill>
                  <a:srgbClr val="000000"/>
                </a:solidFill>
                <a:latin typeface="Arial"/>
              </a:rPr>
              <a:t>SIH26197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000000"/>
                </a:solidFill>
                <a:latin typeface="Arial"/>
              </a:rPr>
              <a:t>• Problem Statement- </a:t>
            </a:r>
            <a:r>
              <a:rPr sz="1500" b="1" u="none">
                <a:solidFill>
                  <a:srgbClr val="000000"/>
                </a:solidFill>
                <a:latin typeface="Arial"/>
              </a:rPr>
              <a:t>Student Innovation—Ideas that showcase the rich cultural heritage and traditions of India.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000000"/>
                </a:solidFill>
                <a:latin typeface="Arial"/>
              </a:rPr>
              <a:t>• Theme- </a:t>
            </a:r>
            <a:r>
              <a:rPr sz="1550" b="1" u="sng">
                <a:solidFill>
                  <a:srgbClr val="000000"/>
                </a:solidFill>
                <a:latin typeface="Arial"/>
              </a:rPr>
              <a:t>Heritage &amp; Culture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000000"/>
                </a:solidFill>
                <a:latin typeface="Arial"/>
              </a:rPr>
              <a:t>• PS Category- </a:t>
            </a:r>
            <a:r>
              <a:rPr sz="1550" b="1" u="sng">
                <a:solidFill>
                  <a:srgbClr val="000000"/>
                </a:solidFill>
                <a:latin typeface="Arial"/>
              </a:rPr>
              <a:t>Software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000000"/>
                </a:solidFill>
                <a:latin typeface="Arial"/>
              </a:rPr>
              <a:t>• Organization- </a:t>
            </a:r>
            <a:r>
              <a:rPr sz="1550" b="1" u="none">
                <a:solidFill>
                  <a:srgbClr val="000000"/>
                </a:solidFill>
                <a:latin typeface="Arial"/>
              </a:rPr>
              <a:t>AICTE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000000"/>
                </a:solidFill>
                <a:latin typeface="Arial"/>
              </a:rPr>
              <a:t>• Project Pitch- </a:t>
            </a:r>
            <a:r>
              <a:rPr sz="1500" b="1" u="none">
                <a:solidFill>
                  <a:srgbClr val="000000"/>
                </a:solidFill>
                <a:latin typeface="Arial"/>
              </a:rPr>
              <a:t>“An AI-powered digital heritage ecosystem that connects monuments, artifacts, traditions, places, people and knowledge into one discoverable cultural experience.”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000000"/>
                </a:solidFill>
                <a:latin typeface="Arial"/>
              </a:rPr>
              <a:t>• Team ID- </a:t>
            </a:r>
            <a:r>
              <a:rPr sz="1550" b="1" u="none">
                <a:solidFill>
                  <a:srgbClr val="000000"/>
                </a:solidFill>
                <a:latin typeface="Arial"/>
              </a:rPr>
              <a:t>57385</a:t>
            </a:r>
          </a:p>
          <a:p>
            <a:pPr>
              <a:spcAft>
                <a:spcPts val="800"/>
              </a:spcAft>
            </a:pPr>
            <a:r>
              <a:rPr sz="1550" b="1">
                <a:solidFill>
                  <a:srgbClr val="000000"/>
                </a:solidFill>
                <a:latin typeface="Arial"/>
              </a:rPr>
              <a:t>• Team Name- </a:t>
            </a:r>
            <a:r>
              <a:rPr sz="1550" b="1" u="none">
                <a:solidFill>
                  <a:srgbClr val="000000"/>
                </a:solidFill>
                <a:latin typeface="Arial"/>
              </a:rPr>
              <a:t>Team VirasatX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276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164592"/>
            <a:ext cx="169164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VirasatX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91840" y="164592"/>
            <a:ext cx="55778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0000"/>
                </a:solidFill>
                <a:latin typeface="Arial"/>
              </a:defRPr>
            </a:pPr>
            <a:r>
              <a:t>IDEA TITLE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37160"/>
            <a:ext cx="1691640" cy="4933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3276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000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5486400" cy="525780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070C0"/>
                </a:solidFill>
                <a:latin typeface="Arial"/>
              </a:defRPr>
            </a:pPr>
            <a:r>
              <a:t>❖ Proposed Solution:</a:t>
            </a:r>
          </a:p>
          <a:p>
            <a:pPr>
              <a:spcAft>
                <a:spcPts val="3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Fragmented Knowledge &amp; Passive Discovery : </a:t>
            </a:r>
            <a:r>
              <a:rPr sz="950">
                <a:solidFill>
                  <a:srgbClr val="000000"/>
                </a:solidFill>
                <a:latin typeface="Arial"/>
              </a:rPr>
              <a:t>Heritage information is distributed across monuments, archives, museums and disconnected sources; digital heritage is often presented as isolated information.</a:t>
            </a:r>
          </a:p>
          <a:p>
            <a:pPr>
              <a:spcAft>
                <a:spcPts val="3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Low Discoverability &amp; Context Gap : </a:t>
            </a:r>
            <a:r>
              <a:rPr sz="950">
                <a:solidFill>
                  <a:srgbClr val="000000"/>
                </a:solidFill>
                <a:latin typeface="Arial"/>
              </a:rPr>
              <a:t>Traditional crafts, artisans and living heritage are hard to discover; understanding wider connections to history, place and community is fragmented.</a:t>
            </a:r>
          </a:p>
          <a:p>
            <a:pPr>
              <a:spcAft>
                <a:spcPts val="3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Proposed Solution — Unified Discovery Platform : </a:t>
            </a:r>
            <a:r>
              <a:rPr sz="950">
                <a:solidFill>
                  <a:srgbClr val="000000"/>
                </a:solidFill>
                <a:latin typeface="Arial"/>
              </a:rPr>
              <a:t>VirasatX brings these discovery pathways together through one interconnected digital heritage experience.</a:t>
            </a:r>
          </a:p>
          <a:p>
            <a:pPr>
              <a:spcAft>
                <a:spcPts val="3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Heritage Collections &amp; Artifact Exploration : </a:t>
            </a:r>
            <a:r>
              <a:rPr sz="950">
                <a:solidFill>
                  <a:srgbClr val="000000"/>
                </a:solidFill>
                <a:latin typeface="Arial"/>
              </a:rPr>
              <a:t>Detailed digital exploration of cultural artifacts, contextual narratives, and historical background.</a:t>
            </a:r>
          </a:p>
          <a:p>
            <a:pPr>
              <a:spcAft>
                <a:spcPts val="3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Chronological Cultural Timeline : </a:t>
            </a:r>
            <a:r>
              <a:rPr sz="950">
                <a:solidFill>
                  <a:srgbClr val="000000"/>
                </a:solidFill>
                <a:latin typeface="Arial"/>
              </a:rPr>
              <a:t>Chronological exploration of Indian heritage across major historical periods and epochs.</a:t>
            </a:r>
          </a:p>
          <a:p>
            <a:pPr>
              <a:spcAft>
                <a:spcPts val="3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Interactive Heritage Map : </a:t>
            </a:r>
            <a:r>
              <a:rPr sz="950">
                <a:solidFill>
                  <a:srgbClr val="000000"/>
                </a:solidFill>
                <a:latin typeface="Arial"/>
              </a:rPr>
              <a:t>Geographical exploration linking monuments, regional heritage sites, and cultural traditions.</a:t>
            </a:r>
          </a:p>
          <a:p>
            <a:pPr>
              <a:spcAft>
                <a:spcPts val="3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Living Traditions &amp; Artisan Discovery : </a:t>
            </a:r>
            <a:r>
              <a:rPr sz="950">
                <a:solidFill>
                  <a:srgbClr val="000000"/>
                </a:solidFill>
                <a:latin typeface="Arial"/>
              </a:rPr>
              <a:t>Dedicated discovery pathway for traditional crafts, artisans, communities, and cultural practices.</a:t>
            </a:r>
          </a:p>
          <a:p>
            <a:pPr>
              <a:spcAft>
                <a:spcPts val="3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AI Heritage Guide &amp; Visual Iconography AI : </a:t>
            </a:r>
            <a:r>
              <a:rPr sz="950">
                <a:solidFill>
                  <a:srgbClr val="000000"/>
                </a:solidFill>
                <a:latin typeface="Arial"/>
              </a:rPr>
              <a:t>AI-assisted heritage guidance for contextual exploration and AI-assisted visual iconography discovery.</a:t>
            </a:r>
          </a:p>
          <a:p>
            <a:pPr>
              <a:spcAft>
                <a:spcPts val="3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Manuscripts &amp; Structured Learning : </a:t>
            </a:r>
            <a:r>
              <a:rPr sz="950">
                <a:solidFill>
                  <a:srgbClr val="000000"/>
                </a:solidFill>
                <a:latin typeface="Arial"/>
              </a:rPr>
              <a:t>Dedicated exploration of textual and inscriptional heritage with structured learning and responsible discovery.</a:t>
            </a:r>
          </a:p>
          <a:p>
            <a:pPr>
              <a:spcAft>
                <a:spcPts val="3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Unique Value Proposition (UVP) : </a:t>
            </a:r>
            <a:r>
              <a:rPr sz="950">
                <a:solidFill>
                  <a:srgbClr val="000000"/>
                </a:solidFill>
                <a:latin typeface="Arial"/>
              </a:rPr>
              <a:t>Artifact → Story → Period → Place → Tradition → Community → Learning → Responsible Experience.</a:t>
            </a:r>
          </a:p>
          <a:p>
            <a:pPr>
              <a:spcAft>
                <a:spcPts val="3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Cultural Context Focus : </a:t>
            </a:r>
            <a:r>
              <a:rPr sz="950">
                <a:solidFill>
                  <a:srgbClr val="000000"/>
                </a:solidFill>
                <a:latin typeface="Arial"/>
              </a:rPr>
              <a:t>“VirasatX connects the cultural context around heritage — not just the heritage object itself.”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987552"/>
            <a:ext cx="5715000" cy="525780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irasatx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33271"/>
            <a:ext cx="562356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164592"/>
            <a:ext cx="169164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VirasatX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91840" y="164592"/>
            <a:ext cx="55778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0000"/>
                </a:solidFill>
                <a:latin typeface="Arial"/>
              </a:defRPr>
            </a:pPr>
            <a:r>
              <a:t>TECHNICAL APPROACH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37160"/>
            <a:ext cx="1691640" cy="4933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3276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000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5486400" cy="260604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53035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Frontend Framework: </a:t>
            </a:r>
            <a:r>
              <a:rPr sz="950">
                <a:solidFill>
                  <a:srgbClr val="000000"/>
                </a:solidFill>
                <a:latin typeface="Arial"/>
              </a:rPr>
              <a:t>React 19, TypeScript, Vite &amp; Tailwind CSS with Motion.</a:t>
            </a:r>
          </a:p>
          <a:p>
            <a:pPr>
              <a:spcAft>
                <a:spcPts val="2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AI Heritage Guide: </a:t>
            </a:r>
            <a:r>
              <a:rPr sz="950">
                <a:solidFill>
                  <a:srgbClr val="000000"/>
                </a:solidFill>
                <a:latin typeface="Arial"/>
              </a:rPr>
              <a:t>Google Gemini Multimodal AI for contextual cultural exploration.</a:t>
            </a:r>
          </a:p>
          <a:p>
            <a:pPr>
              <a:spcAft>
                <a:spcPts val="2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Visual Iconography AI: </a:t>
            </a:r>
            <a:r>
              <a:rPr sz="950">
                <a:solidFill>
                  <a:srgbClr val="000000"/>
                </a:solidFill>
                <a:latin typeface="Arial"/>
              </a:rPr>
              <a:t>AI-assisted visual guidance for iconography and motif discovery.</a:t>
            </a:r>
          </a:p>
          <a:p>
            <a:pPr>
              <a:spcAft>
                <a:spcPts val="2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Interactive Mapping: </a:t>
            </a:r>
            <a:r>
              <a:rPr sz="950">
                <a:solidFill>
                  <a:srgbClr val="000000"/>
                </a:solidFill>
                <a:latin typeface="Arial"/>
              </a:rPr>
              <a:t>Leaflet / OpenStreetMap for geographical heritage discovery.</a:t>
            </a:r>
          </a:p>
          <a:p>
            <a:pPr>
              <a:spcAft>
                <a:spcPts val="2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3D Exploration Studio: </a:t>
            </a:r>
            <a:r>
              <a:rPr sz="950">
                <a:solidFill>
                  <a:srgbClr val="000000"/>
                </a:solidFill>
                <a:latin typeface="Arial"/>
              </a:rPr>
              <a:t>Three.js &amp; WebGL for interactive 3D artifact exploration.</a:t>
            </a:r>
          </a:p>
          <a:p>
            <a:pPr>
              <a:spcAft>
                <a:spcPts val="2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Voice Interaction: </a:t>
            </a:r>
            <a:r>
              <a:rPr sz="950">
                <a:solidFill>
                  <a:srgbClr val="000000"/>
                </a:solidFill>
                <a:latin typeface="Arial"/>
              </a:rPr>
              <a:t>Web Speech API for voice-assisted queries and audio guidance.</a:t>
            </a:r>
          </a:p>
          <a:p>
            <a:pPr>
              <a:spcAft>
                <a:spcPts val="2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Backend &amp; Database: </a:t>
            </a:r>
            <a:r>
              <a:rPr sz="950">
                <a:solidFill>
                  <a:srgbClr val="000000"/>
                </a:solidFill>
                <a:latin typeface="Arial"/>
              </a:rPr>
              <a:t>Supabase with PostgreSQL database and Row Level Security (RLS).</a:t>
            </a:r>
          </a:p>
          <a:p>
            <a:pPr>
              <a:spcAft>
                <a:spcPts val="2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Secure Authentication: </a:t>
            </a:r>
            <a:r>
              <a:rPr sz="950">
                <a:solidFill>
                  <a:srgbClr val="000000"/>
                </a:solidFill>
                <a:latin typeface="Arial"/>
              </a:rPr>
              <a:t>Supabase Auth with role-based access control policies.</a:t>
            </a:r>
          </a:p>
          <a:p>
            <a:pPr>
              <a:spcAft>
                <a:spcPts val="2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Cloud Deployment: </a:t>
            </a:r>
            <a:r>
              <a:rPr sz="950">
                <a:solidFill>
                  <a:srgbClr val="000000"/>
                </a:solidFill>
                <a:latin typeface="Arial"/>
              </a:rPr>
              <a:t>Vercel serverless edge deployment for global responsiveness.</a:t>
            </a:r>
          </a:p>
          <a:p>
            <a:pPr>
              <a:spcAft>
                <a:spcPts val="200"/>
              </a:spcAft>
            </a:pPr>
            <a:r>
              <a:rPr sz="950" b="1" u="sng">
                <a:solidFill>
                  <a:srgbClr val="15803D"/>
                </a:solidFill>
                <a:latin typeface="Arial"/>
              </a:rPr>
              <a:t>• Scalable Architecture: </a:t>
            </a:r>
            <a:r>
              <a:rPr sz="950">
                <a:solidFill>
                  <a:srgbClr val="000000"/>
                </a:solidFill>
                <a:latin typeface="Arial"/>
              </a:rPr>
              <a:t>Modular component hierarchy with structured content schemas.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703320"/>
            <a:ext cx="5486400" cy="2542032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730752"/>
            <a:ext cx="5431536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989320"/>
            <a:ext cx="5394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Arial"/>
              </a:defRPr>
            </a:pPr>
            <a:r>
              <a:t>User Interface: It is a draft version, subject to future updates.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987552"/>
            <a:ext cx="5715000" cy="525780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irasatx_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033271"/>
            <a:ext cx="562356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164592"/>
            <a:ext cx="169164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VirasatX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91840" y="164592"/>
            <a:ext cx="55778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0000"/>
                </a:solidFill>
                <a:latin typeface="Arial"/>
              </a:defRPr>
            </a:pPr>
            <a:r>
              <a:t>WHAT MAKES VIRASATX DIFFERENT?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37160"/>
            <a:ext cx="1691640" cy="4933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3276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000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5486400" cy="525780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70C0"/>
                </a:solidFill>
                <a:latin typeface="Arial"/>
              </a:defRPr>
            </a:pPr>
            <a:r>
              <a:t>❖ Core Capabilities:</a:t>
            </a:r>
          </a:p>
          <a:p>
            <a:pPr>
              <a:spcAft>
                <a:spcPts val="10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Virasat AI :
</a:t>
            </a:r>
            <a:r>
              <a:rPr sz="1050">
                <a:solidFill>
                  <a:srgbClr val="000000"/>
                </a:solidFill>
                <a:latin typeface="Arial"/>
              </a:rPr>
              <a:t>  AI-assisted heritage guidance for contextual exploration and research-oriented discovery.</a:t>
            </a:r>
          </a:p>
          <a:p>
            <a:pPr>
              <a:spcAft>
                <a:spcPts val="10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Visual Iconography AI :
</a:t>
            </a:r>
            <a:r>
              <a:rPr sz="1050">
                <a:solidFill>
                  <a:srgbClr val="000000"/>
                </a:solidFill>
                <a:latin typeface="Arial"/>
              </a:rPr>
              <a:t>  AI-assisted exploration of visual cultural and iconographic information.</a:t>
            </a:r>
          </a:p>
          <a:p>
            <a:pPr>
              <a:spcAft>
                <a:spcPts val="10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Heritage Atlas :
</a:t>
            </a:r>
            <a:r>
              <a:rPr sz="1050">
                <a:solidFill>
                  <a:srgbClr val="000000"/>
                </a:solidFill>
                <a:latin typeface="Arial"/>
              </a:rPr>
              <a:t>  Interactive geographical discovery of heritage places and regions.</a:t>
            </a:r>
          </a:p>
          <a:p>
            <a:pPr>
              <a:spcAft>
                <a:spcPts val="10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Cultural Timeline :
</a:t>
            </a:r>
            <a:r>
              <a:rPr sz="1050">
                <a:solidFill>
                  <a:srgbClr val="000000"/>
                </a:solidFill>
                <a:latin typeface="Arial"/>
              </a:rPr>
              <a:t>  Chronological exploration of Indian heritage across historical periods.</a:t>
            </a:r>
          </a:p>
          <a:p>
            <a:pPr>
              <a:spcAft>
                <a:spcPts val="10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Living Heritage :
</a:t>
            </a:r>
            <a:r>
              <a:rPr sz="1050">
                <a:solidFill>
                  <a:srgbClr val="000000"/>
                </a:solidFill>
                <a:latin typeface="Arial"/>
              </a:rPr>
              <a:t>  Discovery pathway for traditional crafts, artisans, communities and cultural practices.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987552"/>
            <a:ext cx="5715000" cy="525780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051560"/>
            <a:ext cx="5532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70C0"/>
                </a:solidFill>
                <a:latin typeface="Arial"/>
              </a:defRPr>
            </a:pPr>
            <a:r>
              <a:t>❖ Discovery Pathways &amp; UVP:</a:t>
            </a:r>
          </a:p>
          <a:p>
            <a:pPr>
              <a:spcAft>
                <a:spcPts val="8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Manuscripts &amp; Epigraphy :
</a:t>
            </a:r>
            <a:r>
              <a:rPr sz="1050">
                <a:solidFill>
                  <a:srgbClr val="000000"/>
                </a:solidFill>
                <a:latin typeface="Arial"/>
              </a:rPr>
              <a:t>  Dedicated exploration of textual and inscriptional heritage.</a:t>
            </a:r>
          </a:p>
          <a:p>
            <a:pPr>
              <a:spcAft>
                <a:spcPts val="8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Artifact Exploration :
</a:t>
            </a:r>
            <a:r>
              <a:rPr sz="1050">
                <a:solidFill>
                  <a:srgbClr val="000000"/>
                </a:solidFill>
                <a:latin typeface="Arial"/>
              </a:rPr>
              <a:t>  Detailed digital exploration of cultural artifacts and their context.</a:t>
            </a:r>
          </a:p>
          <a:p>
            <a:pPr>
              <a:spcAft>
                <a:spcPts val="8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Responsible Heritage :
</a:t>
            </a:r>
            <a:r>
              <a:rPr sz="1050">
                <a:solidFill>
                  <a:srgbClr val="000000"/>
                </a:solidFill>
                <a:latin typeface="Arial"/>
              </a:rPr>
              <a:t>  Encourages informed and culturally responsible heritage discovery.</a:t>
            </a:r>
          </a:p>
          <a:p>
            <a:pPr>
              <a:spcAft>
                <a:spcPts val="4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Core Differentiator :
</a:t>
            </a:r>
            <a:r>
              <a:rPr sz="1000" b="1">
                <a:solidFill>
                  <a:srgbClr val="475569"/>
                </a:solidFill>
                <a:latin typeface="Arial"/>
              </a:rPr>
              <a:t>  MOST PLATFORMS: “What is this place?”
</a:t>
            </a:r>
            <a:r>
              <a:rPr sz="1050" b="1">
                <a:solidFill>
                  <a:srgbClr val="0070C0"/>
                </a:solidFill>
                <a:latin typeface="Arial"/>
              </a:rPr>
              <a:t>  VIRASATX: “How does this place connect to history, people, traditions, artifacts and living culture?”</a:t>
            </a:r>
          </a:p>
          <a:p>
            <a:pPr>
              <a:spcAft>
                <a:spcPts val="4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• Context-First Experience :
</a:t>
            </a:r>
            <a:r>
              <a:rPr sz="1050">
                <a:solidFill>
                  <a:srgbClr val="000000"/>
                </a:solidFill>
                <a:latin typeface="Arial"/>
              </a:rPr>
              <a:t>  “VirasatX connects the cultural context around heritage — not just the heritage object itself.”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164592"/>
            <a:ext cx="169164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VirasatX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91840" y="164592"/>
            <a:ext cx="55778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0000"/>
                </a:solidFill>
                <a:latin typeface="Arial"/>
              </a:defRPr>
            </a:pPr>
            <a:r>
              <a:t>FEASIBILITY, IMPACT &amp; SCALABILITY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37160"/>
            <a:ext cx="1691640" cy="4933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3276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000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5486400" cy="525780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070C0"/>
                </a:solidFill>
                <a:latin typeface="Arial"/>
              </a:defRPr>
            </a:pPr>
            <a:r>
              <a:t>❖ Feasibility &amp; Impact:</a:t>
            </a:r>
          </a:p>
          <a:p>
            <a:pPr>
              <a:spcAft>
                <a:spcPts val="2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1. Technical Feasibility:</a:t>
            </a:r>
          </a:p>
          <a:p>
            <a:pPr>
              <a:spcAft>
                <a:spcPts val="15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  • Modern React-based web architecture with Vite and Tailwind CSS.</a:t>
            </a:r>
          </a:p>
          <a:p>
            <a:pPr>
              <a:spcAft>
                <a:spcPts val="15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  • Modular AI capabilities powered by Google Gemini.</a:t>
            </a:r>
          </a:p>
          <a:p>
            <a:pPr>
              <a:spcAft>
                <a:spcPts val="15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  • Supabase-backed authentication and structured data services.</a:t>
            </a:r>
          </a:p>
          <a:p>
            <a:pPr>
              <a:spcAft>
                <a:spcPts val="15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  • Interactive mapping, 3D exploration, and multimedia.</a:t>
            </a:r>
          </a:p>
          <a:p>
            <a:pPr>
              <a:spcAft>
                <a:spcPts val="15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  • Responsive web interface deployed globally via Vercel.</a:t>
            </a:r>
          </a:p>
          <a:p>
            <a:pPr>
              <a:spcAft>
                <a:spcPts val="15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  • Expandable content architecture supporting new heritage categories.</a:t>
            </a:r>
          </a:p>
          <a:p>
            <a:pPr>
              <a:spcAft>
                <a:spcPts val="2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2. Social &amp; Cultural Impact:</a:t>
            </a:r>
          </a:p>
          <a:p>
            <a:pPr>
              <a:spcAft>
                <a:spcPts val="15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  • Preservation &amp; Discovery: </a:t>
            </a:r>
            <a:r>
              <a:rPr sz="950">
                <a:solidFill>
                  <a:srgbClr val="000000"/>
                </a:solidFill>
                <a:latin typeface="Arial"/>
              </a:rPr>
              <a:t>Makes cultural information more discoverable through a unified digital experience.</a:t>
            </a:r>
          </a:p>
          <a:p>
            <a:pPr>
              <a:spcAft>
                <a:spcPts val="15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  • Education: </a:t>
            </a:r>
            <a:r>
              <a:rPr sz="950">
                <a:solidFill>
                  <a:srgbClr val="000000"/>
                </a:solidFill>
                <a:latin typeface="Arial"/>
              </a:rPr>
              <a:t>Transforms heritage discovery into an interactive learning experience.</a:t>
            </a:r>
          </a:p>
          <a:p>
            <a:pPr>
              <a:spcAft>
                <a:spcPts val="15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  • Community Visibility: </a:t>
            </a:r>
            <a:r>
              <a:rPr sz="950">
                <a:solidFill>
                  <a:srgbClr val="000000"/>
                </a:solidFill>
                <a:latin typeface="Arial"/>
              </a:rPr>
              <a:t>Creates a digital pathway for discovering living traditions, crafts and artisan communities.</a:t>
            </a:r>
          </a:p>
          <a:p>
            <a:pPr>
              <a:spcAft>
                <a:spcPts val="15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  • Accessibility: </a:t>
            </a:r>
            <a:r>
              <a:rPr sz="950">
                <a:solidFill>
                  <a:srgbClr val="000000"/>
                </a:solidFill>
                <a:latin typeface="Arial"/>
              </a:rPr>
              <a:t>Allows people to explore cultural knowledge beyond physical locations.</a:t>
            </a:r>
          </a:p>
          <a:p>
            <a:pPr>
              <a:spcAft>
                <a:spcPts val="15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  • Responsible Discovery: </a:t>
            </a:r>
            <a:r>
              <a:rPr sz="950">
                <a:solidFill>
                  <a:srgbClr val="000000"/>
                </a:solidFill>
                <a:latin typeface="Arial"/>
              </a:rPr>
              <a:t>Encourages understanding cultural context before visiting or interacting with heritage.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987552"/>
            <a:ext cx="5715000" cy="525780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051560"/>
            <a:ext cx="5532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070C0"/>
                </a:solidFill>
                <a:latin typeface="Arial"/>
              </a:defRPr>
            </a:pPr>
            <a:r>
              <a:t>❖ Scalability &amp; Future Scope:</a:t>
            </a:r>
          </a:p>
          <a:p>
            <a:pPr>
              <a:spcAft>
                <a:spcPts val="2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1. Scalability Architecture:</a:t>
            </a:r>
          </a:p>
          <a:p>
            <a:pPr>
              <a:spcAft>
                <a:spcPts val="15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  • Scalability Progression: </a:t>
            </a:r>
            <a:r>
              <a:rPr sz="950">
                <a:solidFill>
                  <a:srgbClr val="000000"/>
                </a:solidFill>
                <a:latin typeface="Arial"/>
              </a:rPr>
              <a:t>VirasatX MVP → Expanded Heritage Records → More Regions &amp; Languages → Institutional / Archive Integrations → Community Contribution → National-Scale Heritage Knowledge Platform.</a:t>
            </a:r>
          </a:p>
          <a:p>
            <a:pPr>
              <a:spcAft>
                <a:spcPts val="15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  • Modular Expansion: </a:t>
            </a:r>
            <a:r>
              <a:rPr sz="950">
                <a:solidFill>
                  <a:srgbClr val="000000"/>
                </a:solidFill>
                <a:latin typeface="Arial"/>
              </a:rPr>
              <a:t>Modular architecture allows adding regions and categories without system redesign.</a:t>
            </a:r>
          </a:p>
          <a:p>
            <a:pPr>
              <a:spcAft>
                <a:spcPts val="15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  • Elastic Cloud Services: </a:t>
            </a:r>
            <a:r>
              <a:rPr sz="950">
                <a:solidFill>
                  <a:srgbClr val="000000"/>
                </a:solidFill>
                <a:latin typeface="Arial"/>
              </a:rPr>
              <a:t>Serverless edge hosting through Vercel and Supabase scales on demand.</a:t>
            </a:r>
          </a:p>
          <a:p>
            <a:pPr>
              <a:spcAft>
                <a:spcPts val="200"/>
              </a:spcAft>
            </a:pPr>
            <a:r>
              <a:rPr sz="1100" b="1" u="sng">
                <a:solidFill>
                  <a:srgbClr val="15803D"/>
                </a:solidFill>
                <a:latin typeface="Arial"/>
              </a:rPr>
              <a:t>2. Future Scope (Planned Enhancements):</a:t>
            </a:r>
          </a:p>
          <a:p>
            <a:pPr>
              <a:spcAft>
                <a:spcPts val="15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  • Indian-language expansion across additional regional languages.</a:t>
            </a:r>
          </a:p>
          <a:p>
            <a:pPr>
              <a:spcAft>
                <a:spcPts val="15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  • Larger institutional datasets from archives and museum records.</a:t>
            </a:r>
          </a:p>
          <a:p>
            <a:pPr>
              <a:spcAft>
                <a:spcPts val="15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  • Community contribution workflows for grassroots cultural discovery.</a:t>
            </a:r>
          </a:p>
          <a:p>
            <a:pPr>
              <a:spcAft>
                <a:spcPts val="15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  • Advanced visual recognition for iconography.</a:t>
            </a:r>
          </a:p>
          <a:p>
            <a:pPr>
              <a:spcAft>
                <a:spcPts val="15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  • Richer 3D / immersive cultural experiences.</a:t>
            </a:r>
          </a:p>
          <a:p>
            <a:pPr>
              <a:spcAft>
                <a:spcPts val="15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  • Expanded educational modules and curricula integration.</a:t>
            </a:r>
          </a:p>
          <a:p>
            <a:pPr>
              <a:spcAft>
                <a:spcPts val="150"/>
              </a:spcAft>
            </a:pPr>
            <a:r>
              <a:rPr sz="950">
                <a:solidFill>
                  <a:srgbClr val="000000"/>
                </a:solidFill>
                <a:latin typeface="Arial"/>
              </a:rPr>
              <a:t>  • Museum and archive integrations.</a:t>
            </a:r>
          </a:p>
          <a:p>
            <a:pPr>
              <a:spcAft>
                <a:spcPts val="200"/>
              </a:spcAft>
            </a:pPr>
            <a:r>
              <a:rPr sz="900" i="1">
                <a:solidFill>
                  <a:srgbClr val="475569"/>
                </a:solidFill>
                <a:latin typeface="Arial"/>
              </a:rPr>
              <a:t>  Note: The above items represent future scope and are not claimed as currently implemented.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164592"/>
            <a:ext cx="169164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VirasatX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91840" y="164592"/>
            <a:ext cx="557784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0000"/>
                </a:solidFill>
                <a:latin typeface="Arial"/>
              </a:defRPr>
            </a:pPr>
            <a:r>
              <a:t>RESEARCH AND REFERENCES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37160"/>
            <a:ext cx="1691640" cy="4933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3276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000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11384280" cy="525780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109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 u="sng">
                <a:solidFill>
                  <a:srgbClr val="15803D"/>
                </a:solidFill>
                <a:latin typeface="Arial"/>
              </a:rPr>
              <a:t>1. Project &amp; Prototype: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  • VirasatX — India’s Heritage Repository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  • Live Prototype: https://virasatxai.vercel.app/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  • GitHub Repository: https://github.com/ShrilCarpenter/VirasatX</a:t>
            </a:r>
          </a:p>
          <a:p>
            <a:pPr>
              <a:spcAft>
                <a:spcPts val="400"/>
              </a:spcAft>
            </a:pPr>
            <a:r>
              <a:rPr sz="1200" b="1" u="sng">
                <a:solidFill>
                  <a:srgbClr val="15803D"/>
                </a:solidFill>
                <a:latin typeface="Arial"/>
              </a:rPr>
              <a:t>2. Research &amp; Reference Sources: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000000"/>
                </a:solidFill>
                <a:latin typeface="Arial"/>
              </a:rPr>
              <a:t>  Institutional sources consulted for taxonomy, cataloging schemas, and heritage documentation: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  • Ministry of Culture</a:t>
            </a:r>
            <a:r>
              <a:rPr sz="950">
                <a:solidFill>
                  <a:srgbClr val="0070C0"/>
                </a:solidFill>
                <a:latin typeface="Arial"/>
              </a:rPr>
              <a:t> (https://www.indiaculture.gov.in/)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  • Archaeological Survey of India (ASI)</a:t>
            </a:r>
            <a:r>
              <a:rPr sz="950">
                <a:solidFill>
                  <a:srgbClr val="0070C0"/>
                </a:solidFill>
                <a:latin typeface="Arial"/>
              </a:rPr>
              <a:t> (https://asi.nic.in/)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  • National Archives of India</a:t>
            </a:r>
            <a:r>
              <a:rPr sz="950">
                <a:solidFill>
                  <a:srgbClr val="0070C0"/>
                </a:solidFill>
                <a:latin typeface="Arial"/>
              </a:rPr>
              <a:t> (https://nationalarchives.nic.in/)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  • National Mission on Monuments and Antiquities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  • Museums of India</a:t>
            </a:r>
            <a:r>
              <a:rPr sz="950">
                <a:solidFill>
                  <a:srgbClr val="0070C0"/>
                </a:solidFill>
                <a:latin typeface="Arial"/>
              </a:rPr>
              <a:t> (https://museumsofindia.gov.in/)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  • Indira Gandhi National Centre for the Arts (IGNCA)</a:t>
            </a:r>
            <a:r>
              <a:rPr sz="950">
                <a:solidFill>
                  <a:srgbClr val="0070C0"/>
                </a:solidFill>
                <a:latin typeface="Arial"/>
              </a:rPr>
              <a:t> (https://ignca.gov.in/)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  • Vedic Heritage Portal</a:t>
            </a:r>
            <a:r>
              <a:rPr sz="950">
                <a:solidFill>
                  <a:srgbClr val="0070C0"/>
                </a:solidFill>
                <a:latin typeface="Arial"/>
              </a:rPr>
              <a:t> (https://vedicheritage.gov.in/)</a:t>
            </a:r>
          </a:p>
          <a:p>
            <a:pPr>
              <a:spcAft>
                <a:spcPts val="150"/>
              </a:spcAft>
            </a:pPr>
            <a:r>
              <a:rPr sz="1000">
                <a:solidFill>
                  <a:srgbClr val="000000"/>
                </a:solidFill>
                <a:latin typeface="Arial"/>
              </a:rPr>
              <a:t>    • UNESCO / Relevant Institutional Heritage Resources</a:t>
            </a:r>
            <a:r>
              <a:rPr sz="950">
                <a:solidFill>
                  <a:srgbClr val="0070C0"/>
                </a:solidFill>
                <a:latin typeface="Arial"/>
              </a:rPr>
              <a:t> (https://whc.unesco.org/)</a:t>
            </a:r>
          </a:p>
          <a:p>
            <a:pPr>
              <a:spcAft>
                <a:spcPts val="400"/>
              </a:spcAft>
            </a:pPr>
            <a:r>
              <a:rPr sz="1200" b="1" u="sng">
                <a:solidFill>
                  <a:srgbClr val="15803D"/>
                </a:solidFill>
                <a:latin typeface="Arial"/>
              </a:rPr>
              <a:t>3. Closing Vision: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1B365D"/>
                </a:solidFill>
                <a:latin typeface="Arial"/>
              </a:rPr>
              <a:t>  VIRASATX — “From scattered heritage knowledge to one connected cultural experience.”
  Explore. Understand. Preserve.
  Smart India Hackathon 2026 — Problem Statement ID: SIH26197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