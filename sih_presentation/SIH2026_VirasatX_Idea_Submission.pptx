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13716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02B49"/>
                </a:solidFill>
                <a:latin typeface="Segoe UI"/>
              </a:defRPr>
            </a:pPr>
            <a:r>
              <a:t>SMART INDIA HACKATHON 2026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686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Segoe UI"/>
              </a:defRPr>
            </a:pPr>
            <a:r>
              <a:t>TITLE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Segoe UI"/>
              </a:rPr>
              <a:t>• Problem Statement ID –</a:t>
            </a:r>
            <a:r>
              <a:rPr sz="1800" b="1">
                <a:solidFill>
                  <a:srgbClr val="15803D"/>
                </a:solidFill>
                <a:latin typeface="Segoe UI"/>
              </a:rPr>
              <a:t> SIH26197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00000"/>
                </a:solidFill>
                <a:latin typeface="Segoe UI"/>
              </a:rPr>
              <a:t>• Problem Statement Title-</a:t>
            </a:r>
            <a:r>
              <a:rPr sz="1250" b="1">
                <a:solidFill>
                  <a:srgbClr val="15803D"/>
                </a:solidFill>
                <a:latin typeface="Segoe UI"/>
              </a:rPr>
              <a:t> Student Innovation—Ideas that showcase the rich cultural heritage and traditions of India.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• Theme-</a:t>
            </a:r>
            <a:r>
              <a:rPr sz="1400" b="1">
                <a:solidFill>
                  <a:srgbClr val="15803D"/>
                </a:solidFill>
                <a:latin typeface="Segoe UI"/>
              </a:rPr>
              <a:t> Heritage &amp; Culture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• PS Category-</a:t>
            </a:r>
            <a:r>
              <a:rPr sz="1400" b="1">
                <a:solidFill>
                  <a:srgbClr val="15803D"/>
                </a:solidFill>
                <a:latin typeface="Segoe UI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  <a:latin typeface="Segoe UI"/>
              </a:rPr>
              <a:t>• Lead Organization-</a:t>
            </a:r>
            <a:r>
              <a:rPr sz="1300" b="1">
                <a:solidFill>
                  <a:srgbClr val="15803D"/>
                </a:solidFill>
                <a:latin typeface="Segoe UI"/>
              </a:rPr>
              <a:t> All India Council for Technical Education (AICTE)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• Team ID-</a:t>
            </a:r>
            <a:r>
              <a:rPr sz="1400" b="1">
                <a:solidFill>
                  <a:srgbClr val="15803D"/>
                </a:solidFill>
                <a:latin typeface="Segoe UI"/>
              </a:rPr>
              <a:t> [YOUR TEAM ID]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• Team Name-</a:t>
            </a:r>
            <a:r>
              <a:rPr sz="1400" b="1">
                <a:solidFill>
                  <a:srgbClr val="15803D"/>
                </a:solidFill>
                <a:latin typeface="Segoe UI"/>
              </a:rPr>
              <a:t> Team VirasatX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20640"/>
            <a:ext cx="621792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0070C0"/>
                </a:solidFill>
                <a:latin typeface="Segoe UI"/>
              </a:defRPr>
            </a:pPr>
            <a:r>
              <a:t>ONE-LINE PROJECT PITCH</a:t>
            </a:r>
          </a:p>
          <a:p>
            <a:pPr>
              <a:defRPr sz="1200" i="1">
                <a:solidFill>
                  <a:srgbClr val="334155"/>
                </a:solidFill>
                <a:latin typeface="Segoe UI"/>
              </a:defRPr>
            </a:pPr>
            <a:r>
              <a:t>“An AI-powered digital heritage ecosystem that connects monuments, artifacts, traditions, places, people and knowledge into one discoverable cultural experience.”</a:t>
            </a:r>
          </a:p>
        </p:txBody>
      </p:sp>
      <p:pic>
        <p:nvPicPr>
          <p:cNvPr id="12" name="Picture 11" descr="sih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05840"/>
            <a:ext cx="3474720" cy="3909060"/>
          </a:xfrm>
          <a:prstGeom prst="rect">
            <a:avLst/>
          </a:prstGeom>
        </p:spPr>
      </p:pic>
      <p:pic>
        <p:nvPicPr>
          <p:cNvPr id="13" name="Picture 12" descr="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554480"/>
            <a:ext cx="4663440" cy="2623185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7498079" y="5897880"/>
            <a:ext cx="3931920" cy="41148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“India’s Heritage, Understood, Preserved and Experienced.”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64592"/>
            <a:ext cx="55778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000000"/>
                </a:solidFill>
                <a:latin typeface="Segoe UI"/>
              </a:defRPr>
            </a:pPr>
            <a:r>
              <a:t>VIRASATX</a:t>
            </a:r>
          </a:p>
          <a:p>
            <a:pPr algn="ctr">
              <a:defRPr sz="950">
                <a:solidFill>
                  <a:srgbClr val="334155"/>
                </a:solidFill>
                <a:latin typeface="Segoe UI"/>
              </a:defRPr>
            </a:pPr>
            <a:r>
              <a:t>(India's Heritage Repository)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2011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★ - Innovation</a:t>
            </a:r>
          </a:p>
        </p:txBody>
      </p:sp>
      <p:pic>
        <p:nvPicPr>
          <p:cNvPr id="6" name="Picture 5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868680"/>
            <a:ext cx="7132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50" b="1">
                <a:solidFill>
                  <a:srgbClr val="0070C0"/>
                </a:solidFill>
                <a:latin typeface="Segoe UI"/>
              </a:defRPr>
            </a:pPr>
            <a:r>
              <a:t>PROBLEM EXISTING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Fragmented Heritage Knowledge : </a:t>
            </a:r>
            <a:r>
              <a:rPr sz="900">
                <a:solidFill>
                  <a:srgbClr val="000000"/>
                </a:solidFill>
                <a:latin typeface="Segoe UI"/>
              </a:rPr>
              <a:t>Monuments, archives, manuscripts, and living communities are scattered across disconnected portals.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Passive Digital Discovery : </a:t>
            </a:r>
            <a:r>
              <a:rPr sz="900">
                <a:solidFill>
                  <a:srgbClr val="000000"/>
                </a:solidFill>
                <a:latin typeface="Segoe UI"/>
              </a:rPr>
              <a:t>Existing portals present static text/listings without interconnected cultural context or visual guidance.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Low Living Heritage Visibility : </a:t>
            </a:r>
            <a:r>
              <a:rPr sz="900">
                <a:solidFill>
                  <a:srgbClr val="000000"/>
                </a:solidFill>
                <a:latin typeface="Segoe UI"/>
              </a:rPr>
              <a:t>Traditional craft guilds, master artisans, and oral traditions remain completely separated from monuments.</a:t>
            </a:r>
          </a:p>
        </p:txBody>
      </p:sp>
      <p:pic>
        <p:nvPicPr>
          <p:cNvPr id="11" name="Picture 10" descr="dis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240280"/>
            <a:ext cx="1645920" cy="960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11480" y="3218688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Discover Catalog</a:t>
            </a:r>
          </a:p>
        </p:txBody>
      </p:sp>
      <p:pic>
        <p:nvPicPr>
          <p:cNvPr id="13" name="Picture 12" descr="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0280" y="2240280"/>
            <a:ext cx="1645920" cy="960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240280" y="3218688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Heritage Map</a:t>
            </a:r>
          </a:p>
        </p:txBody>
      </p:sp>
      <p:pic>
        <p:nvPicPr>
          <p:cNvPr id="15" name="Picture 14" descr="living_tradi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2240280"/>
            <a:ext cx="1645920" cy="960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069080" y="3218688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Living Traditions</a:t>
            </a:r>
          </a:p>
        </p:txBody>
      </p:sp>
      <p:pic>
        <p:nvPicPr>
          <p:cNvPr id="17" name="Picture 16" descr="ai_gu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7880" y="2240280"/>
            <a:ext cx="1645920" cy="960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5897880" y="3218688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Virasat AI Guide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493008"/>
            <a:ext cx="7132320" cy="1600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50" b="1">
                <a:solidFill>
                  <a:srgbClr val="0070C0"/>
                </a:solidFill>
                <a:latin typeface="Segoe UI"/>
              </a:defRPr>
            </a:pPr>
            <a:r>
              <a:t>PROPOSED SOLUTION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Unified Heritage Repository : </a:t>
            </a:r>
            <a:r>
              <a:rPr sz="900">
                <a:solidFill>
                  <a:srgbClr val="000000"/>
                </a:solidFill>
                <a:latin typeface="Segoe UI"/>
              </a:rPr>
              <a:t>Explore monuments, artifacts, collections, manuscripts, and living traditions in one place.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Multimodal AI Guidance : </a:t>
            </a:r>
            <a:r>
              <a:rPr sz="900">
                <a:solidFill>
                  <a:srgbClr val="000000"/>
                </a:solidFill>
                <a:latin typeface="Segoe UI"/>
              </a:rPr>
              <a:t>Ask Virasat AI for research inquiries and upload photos for visual iconography identification.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Contextual Continuity : </a:t>
            </a:r>
            <a:r>
              <a:rPr sz="900">
                <a:solidFill>
                  <a:srgbClr val="000000"/>
                </a:solidFill>
                <a:latin typeface="Segoe UI"/>
              </a:rPr>
              <a:t>Chronological 5,000-year timeline, geospatial GIS corridors, and ancient script paleography.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70C0"/>
                </a:solidFill>
                <a:latin typeface="Segoe UI"/>
              </a:rPr>
              <a:t>➤ Responsible Cultural Travel : </a:t>
            </a:r>
            <a:r>
              <a:rPr sz="900">
                <a:solidFill>
                  <a:srgbClr val="000000"/>
                </a:solidFill>
                <a:latin typeface="Segoe UI"/>
              </a:rPr>
              <a:t>Carrying-capacity advisories and rural craft linkages to empower local artisan economies.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6360"/>
            <a:ext cx="7132320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50" b="1">
                <a:solidFill>
                  <a:srgbClr val="475569"/>
                </a:solidFill>
                <a:latin typeface="Segoe UI"/>
              </a:defRPr>
            </a:pPr>
            <a:r>
              <a:t>UVP (UNIQUE VALUE PROPOSITION)</a:t>
            </a:r>
          </a:p>
          <a:p>
            <a:pPr>
              <a:spcAft>
                <a:spcPts val="200"/>
              </a:spcAft>
              <a:defRPr sz="950" b="1">
                <a:solidFill>
                  <a:srgbClr val="0070C0"/>
                </a:solidFill>
                <a:latin typeface="Segoe UI"/>
              </a:defRPr>
            </a:pPr>
            <a:r>
              <a:t>Artifact  ➔  Story  ➔  Period  ➔  Place  ➔  Tradition  ➔  Community  ➔  Learning  ➔  Responsible Experience</a:t>
            </a:r>
          </a:p>
          <a:p>
            <a:pPr algn="ctr">
              <a:defRPr sz="1100" b="1" i="1">
                <a:solidFill>
                  <a:srgbClr val="002B49"/>
                </a:solidFill>
                <a:latin typeface="Segoe UI"/>
              </a:defRPr>
            </a:pPr>
            <a:r>
              <a:t>“VirasatX doesn't just display heritage — it connects the cultural context around it.”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26679" y="868680"/>
            <a:ext cx="4069080" cy="5486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863840" y="1005840"/>
            <a:ext cx="1463040" cy="3200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1417320"/>
            <a:ext cx="3703320" cy="59436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E40AF"/>
                </a:solidFill>
                <a:latin typeface="Segoe UI"/>
              </a:defRPr>
            </a:pPr>
            <a:r>
              <a:t>👤 User / Patron / Student</a:t>
            </a:r>
          </a:p>
          <a:p>
            <a:pPr algn="ctr">
              <a:defRPr sz="850">
                <a:solidFill>
                  <a:srgbClr val="334155"/>
                </a:solidFill>
                <a:latin typeface="Segoe UI"/>
              </a:defRPr>
            </a:pPr>
            <a:r>
              <a:t>Text Query • Photo Upload • GIS Map Exploration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01168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2286000"/>
            <a:ext cx="3703320" cy="594360"/>
          </a:xfrm>
          <a:prstGeom prst="roundRect">
            <a:avLst/>
          </a:prstGeom>
          <a:solidFill>
            <a:srgbClr val="FAF8F5"/>
          </a:solidFill>
          <a:ln>
            <a:solidFill>
              <a:srgbClr val="936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936B38"/>
                </a:solidFill>
                <a:latin typeface="Segoe UI"/>
              </a:defRPr>
            </a:pPr>
            <a:r>
              <a:t>🏛️ VirasatX Digital Heritage Core</a:t>
            </a:r>
          </a:p>
          <a:p>
            <a:pPr algn="ctr">
              <a:defRPr sz="850">
                <a:solidFill>
                  <a:srgbClr val="334155"/>
                </a:solidFill>
                <a:latin typeface="Segoe UI"/>
              </a:defRPr>
            </a:pPr>
            <a:r>
              <a:t>Grounded Knowledge Catalog • Local Media Assets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88036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3154680"/>
            <a:ext cx="1170432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369A1"/>
                </a:solidFill>
                <a:latin typeface="Segoe UI"/>
              </a:defRPr>
            </a:pPr>
            <a:r>
              <a:t>ONLINE MODE</a:t>
            </a:r>
            <a:br/>
            <a:r>
              <a:t>Interactive 3D &amp; Atlas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89720" y="3154680"/>
            <a:ext cx="1170432" cy="59436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2410C"/>
                </a:solidFill>
                <a:latin typeface="Segoe UI"/>
              </a:defRPr>
            </a:pPr>
            <a:r>
              <a:t>AI RESEARCH</a:t>
            </a:r>
            <a:br/>
            <a:r>
              <a:t>Grounded AI &amp; Vision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69880" y="3154680"/>
            <a:ext cx="1170432" cy="594360"/>
          </a:xfrm>
          <a:prstGeom prst="roundRect">
            <a:avLst/>
          </a:prstGeom>
          <a:solidFill>
            <a:srgbClr val="F0FDF4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5803D"/>
                </a:solidFill>
                <a:latin typeface="Segoe UI"/>
              </a:defRPr>
            </a:pPr>
            <a:r>
              <a:t>LIVING HERITAGE</a:t>
            </a:r>
            <a:br/>
            <a:r>
              <a:t>GI Artisan Guilds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9476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4069080"/>
            <a:ext cx="370332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70C0"/>
                </a:solidFill>
                <a:latin typeface="Segoe UI"/>
              </a:defRPr>
            </a:pPr>
            <a:r>
              <a:t>✔️ Grounded Evidence &amp; Citations [ASI-104]</a:t>
            </a:r>
          </a:p>
          <a:p>
            <a:pPr algn="ctr">
              <a:defRPr sz="850">
                <a:solidFill>
                  <a:srgbClr val="334155"/>
                </a:solidFill>
                <a:latin typeface="Segoe UI"/>
              </a:defRPr>
            </a:pPr>
            <a:r>
              <a:t>Confidence Ratings • Dynamic Curatorial Narration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70916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4983480"/>
            <a:ext cx="3703320" cy="59436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✨ Unbroken Cultural Horizon Experience</a:t>
            </a:r>
          </a:p>
          <a:p>
            <a:pPr algn="ctr">
              <a:defRPr sz="850">
                <a:solidFill>
                  <a:srgbClr val="BAE6FD"/>
                </a:solidFill>
                <a:latin typeface="Segoe UI"/>
              </a:defRPr>
            </a:pPr>
            <a:r>
              <a:t>Explore ➔ Learn ➔ Understand ➔ Preserve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5715000"/>
            <a:ext cx="370332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75569"/>
                </a:solidFill>
                <a:latin typeface="Segoe UI"/>
              </a:defRPr>
            </a:pPr>
            <a:r>
              <a:t>🏛️ ASI Grounded   🔒 No PII   ♿ WCAG 2.1 AA   📜 Open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13716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 E C H N I C A L   A P P R O A C H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68680"/>
            <a:ext cx="11365992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005840"/>
            <a:ext cx="1097280" cy="32004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🚀 Start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37360" y="1005840"/>
            <a:ext cx="2926080" cy="32004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Choose Cultural Exploration Pathway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0058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950">
                <a:solidFill>
                  <a:srgbClr val="EA580C"/>
                </a:solidFill>
              </a:rPr>
              <a:t>• Visual Specimen Scan   </a:t>
            </a:r>
            <a:r>
              <a:rPr b="1" sz="950">
                <a:solidFill>
                  <a:srgbClr val="0070C0"/>
                </a:solidFill>
              </a:rPr>
              <a:t>• Scholarly Inquiry / Text   </a:t>
            </a:r>
            <a:r>
              <a:rPr b="1" sz="950">
                <a:solidFill>
                  <a:srgbClr val="15803D"/>
                </a:solidFill>
              </a:rPr>
              <a:t>• Geospatial &amp; 3D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417320"/>
            <a:ext cx="3566160" cy="2331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1508760"/>
            <a:ext cx="3383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VISION AI PATHWAY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901952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📷 Upload Artifact / Monument Photo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249424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⚙️ Base64 Preprocessing &amp; Client Sanitization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96896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🤖 Gemini 2.5 Flash Vision Multimodal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44368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🔍 Identify Mudras, Asanas, Drapery &amp; Dynasty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EA580C"/>
                </a:solidFill>
                <a:latin typeface="Segoe UI"/>
              </a:defRPr>
            </a:pPr>
            <a:r>
              <a:t>🎯 Output: Classification + Confidence 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1417320"/>
            <a:ext cx="3566160" cy="2331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1508760"/>
            <a:ext cx="3383280" cy="32004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AI HERITAGE GUIDE (RAG)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1901952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💬 Natural Query (English, Hindi, Sanskrit)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2249424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📚 Lexical &amp; Semantic Context Vector Retrieval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2596896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🏛️ Ground against Curated ASI Accession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2944368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⚡ Serverless Backend API Execution (/api/ai-guide)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291840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Segoe UI"/>
              </a:defRPr>
            </a:pPr>
            <a:r>
              <a:t>🎯 Output: Grounded Response with [ASI-104] Citations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417320"/>
            <a:ext cx="3566160" cy="2331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8160" y="1508760"/>
            <a:ext cx="3383280" cy="3200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GEOSPATIAL &amp; 3D STUDIO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901952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🗺️ Leaflet OSM Interactive GPS Coordinate Atlas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2249424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🧭 6 Thematic Cultural Corridors (Chola, etc.)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2596896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🎮 Three.js WebGL 360° Tactile Inspection Studio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2944368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0">
                <a:solidFill>
                  <a:srgbClr val="000000"/>
                </a:solidFill>
                <a:latin typeface="Segoe UI"/>
              </a:defRPr>
            </a:pPr>
            <a:r>
              <a:t>💡 Raking, Amber &amp; Neutral Museum Lighting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291840"/>
            <a:ext cx="338328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5803D"/>
                </a:solidFill>
                <a:latin typeface="Segoe UI"/>
              </a:defRPr>
            </a:pPr>
            <a:r>
              <a:t>🎯 Output: Tactile Inspection &amp; Audio Narration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005072"/>
            <a:ext cx="676656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4114800"/>
            <a:ext cx="1371600" cy="27432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48056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Frontend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React 19 • Vite 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48056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Language &amp; CSS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TypeScript • Tailwind v4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40480" y="448056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AI &amp; Multimodal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Gemini 2.5 Flash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448056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AI SDK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@google/genai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30352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3D Engine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Three.js (WebGL)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4560" y="530352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Mapping GIS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Leaflet • OSM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0480" y="530352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Backend &amp; DB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Supabase • PostgreSQL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0" y="5303520"/>
            <a:ext cx="155448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070C0"/>
                </a:solidFill>
                <a:latin typeface="Segoe UI"/>
              </a:defRPr>
            </a:pPr>
            <a:r>
              <a:t>Deployment</a:t>
            </a:r>
          </a:p>
          <a:p>
            <a:pPr algn="ctr">
              <a:defRPr sz="850" b="1">
                <a:solidFill>
                  <a:srgbClr val="000000"/>
                </a:solidFill>
                <a:latin typeface="Segoe UI"/>
              </a:defRPr>
            </a:pPr>
            <a:r>
              <a:t>Vercel Serverless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60920" y="4005072"/>
            <a:ext cx="4416552" cy="2377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950" b="1">
                <a:solidFill>
                  <a:srgbClr val="15803D"/>
                </a:solidFill>
                <a:latin typeface="Segoe UI"/>
              </a:defRPr>
            </a:pPr>
            <a:r>
              <a:t>PROTOTYPE VERIFICATION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70C0"/>
                </a:solidFill>
              </a:rPr>
              <a:t>➤ Secret Shielding : </a:t>
            </a:r>
            <a:r>
              <a:rPr sz="900">
                <a:solidFill>
                  <a:srgbClr val="000000"/>
                </a:solidFill>
              </a:rPr>
              <a:t>Gemini API keys execute strictly in backend serverless functions; zero keys in client bundles.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070C0"/>
                </a:solidFill>
              </a:rPr>
              <a:t>➤ Defensive SafeImage : </a:t>
            </a:r>
            <a:r>
              <a:rPr sz="900">
                <a:solidFill>
                  <a:srgbClr val="000000"/>
                </a:solidFill>
              </a:rPr>
              <a:t>Shimmer skeletons with zero layout shift (CLS &lt; 0.05) and archival parchment fallback.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8079" y="5806440"/>
            <a:ext cx="4114800" cy="384048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Principle : Modular • Scalable • Secure • Evidence-Aware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13716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 E A S I B I L I T Y   A N D   V I A B I L I T Y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68680"/>
            <a:ext cx="55321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0070C0"/>
                </a:solidFill>
                <a:latin typeface="Segoe UI"/>
              </a:defRPr>
            </a:pPr>
            <a:r>
              <a:t>FEASIBILITY :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Technical : </a:t>
            </a:r>
            <a:r>
              <a:rPr sz="850">
                <a:solidFill>
                  <a:srgbClr val="334155"/>
                </a:solidFill>
              </a:rPr>
              <a:t>Proven Tech Stack — React 19, TypeScript, Vite, Supabase PostgreSQL, and Three.js. Smooth cross-platform web execution with zero heavy native app download requirements.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Secret Protection &amp; Security : </a:t>
            </a:r>
            <a:r>
              <a:rPr sz="850">
                <a:solidFill>
                  <a:srgbClr val="334155"/>
                </a:solidFill>
              </a:rPr>
              <a:t>Serverless execution ensures Gemini API keys and database credentials are strictly isolated from client-side bundles.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Innovation : </a:t>
            </a:r>
            <a:r>
              <a:rPr sz="850">
                <a:solidFill>
                  <a:srgbClr val="334155"/>
                </a:solidFill>
              </a:rPr>
              <a:t>Domain-grounded RAG linking inquiries directly to verified ASI accession records (e.g. [ASI-104]) with confidence scoring.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Operational : </a:t>
            </a:r>
            <a:r>
              <a:rPr sz="850">
                <a:solidFill>
                  <a:srgbClr val="334155"/>
                </a:solidFill>
              </a:rPr>
              <a:t>Runs efficiently on low-bandwidth connections through client-side tile caching and progressive &lt;SafeImage /&gt; fallbacks.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Cultural Data Standards : </a:t>
            </a:r>
            <a:r>
              <a:rPr sz="850">
                <a:solidFill>
                  <a:srgbClr val="334155"/>
                </a:solidFill>
              </a:rPr>
              <a:t>Uses open cultural access datasets structured to ASI and National Mission for Manuscripts (NMM) archival standards.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868680"/>
            <a:ext cx="55321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15803D"/>
                </a:solidFill>
                <a:latin typeface="Segoe UI"/>
              </a:defRPr>
            </a:pPr>
            <a:r>
              <a:t>VIABILITY :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Educational Reach : </a:t>
            </a:r>
            <a:r>
              <a:rPr sz="850">
                <a:solidFill>
                  <a:srgbClr val="334155"/>
                </a:solidFill>
              </a:rPr>
              <a:t>Enables schools, rural colleges, and researchers across India to inspect high-resolution monuments, manuscripts, and 3D bronzes remotely.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Policy &amp; National Mission : </a:t>
            </a:r>
            <a:r>
              <a:rPr sz="850">
                <a:solidFill>
                  <a:srgbClr val="334155"/>
                </a:solidFill>
              </a:rPr>
              <a:t>Directly supports AICTE Student Innovation, Ministry of Culture digitization drives, and UNESCO Sustainable Tourism (SDG 11).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Infrastructure Overhead : </a:t>
            </a:r>
            <a:r>
              <a:rPr sz="850">
                <a:solidFill>
                  <a:srgbClr val="334155"/>
                </a:solidFill>
              </a:rPr>
              <a:t>Serverless edge deployment and Supabase free-tier database keep initial operational costs near zero, scaling seamlessly with traffic.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Living Heritage Inclusion : </a:t>
            </a:r>
            <a:r>
              <a:rPr sz="850">
                <a:solidFill>
                  <a:srgbClr val="334155"/>
                </a:solidFill>
              </a:rPr>
              <a:t>Directly spotlights GI-certified master artisan cooperatives (Swamimalai Bronzes, Aranmula Mirrors, Patan Patola) to foster rural craft livelihoods.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00000"/>
                </a:solidFill>
              </a:rPr>
              <a:t>Scalability &amp; Expansion : </a:t>
            </a:r>
            <a:r>
              <a:rPr sz="850">
                <a:solidFill>
                  <a:srgbClr val="334155"/>
                </a:solidFill>
              </a:rPr>
              <a:t>Modular database schema allows continuous ingestion of state archaeological records and regional manuscript repositories.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206240"/>
            <a:ext cx="553212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70C0"/>
                </a:solidFill>
                <a:latin typeface="Segoe UI"/>
              </a:defRPr>
            </a:pPr>
            <a:r>
              <a:t>TECHNICAL CHALLENGES :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Risk : </a:t>
            </a:r>
            <a:r>
              <a:rPr sz="900">
                <a:solidFill>
                  <a:srgbClr val="334155"/>
                </a:solidFill>
              </a:rPr>
              <a:t>Generative AI models risk hallucinating historical dates, dynastic chronologies, and mudra attributions.</a:t>
            </a:r>
          </a:p>
          <a:p>
            <a:r>
              <a:rPr b="1" sz="950">
                <a:solidFill>
                  <a:srgbClr val="000000"/>
                </a:solidFill>
              </a:rPr>
              <a:t>Mitigation : </a:t>
            </a:r>
            <a:r>
              <a:rPr sz="900">
                <a:solidFill>
                  <a:srgbClr val="334155"/>
                </a:solidFill>
              </a:rPr>
              <a:t>Inquiries are strictly grounded against curated ASI accession catalogs; prompts enforce low temperature (0.2), cite explicit record numbers, and display transparent confidence meters.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53212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70C0"/>
                </a:solidFill>
                <a:latin typeface="Segoe UI"/>
              </a:defRPr>
            </a:pPr>
            <a:r>
              <a:t>CULTURAL &amp; ADOPTION CHALLENGES :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Risk : </a:t>
            </a:r>
            <a:r>
              <a:rPr sz="900">
                <a:solidFill>
                  <a:srgbClr val="334155"/>
                </a:solidFill>
              </a:rPr>
              <a:t>Traditional artisans and master sthapatis may face privacy intrusion or contact spam from public directories.</a:t>
            </a:r>
          </a:p>
          <a:p>
            <a:r>
              <a:rPr b="1" sz="950">
                <a:solidFill>
                  <a:srgbClr val="000000"/>
                </a:solidFill>
              </a:rPr>
              <a:t>Mitigation : </a:t>
            </a:r>
            <a:r>
              <a:rPr sz="900">
                <a:solidFill>
                  <a:srgbClr val="334155"/>
                </a:solidFill>
              </a:rPr>
              <a:t>Ethical custodianship protocol connects patrons strictly with certified Geographical Indication (GI) cooperative offices with zero exposure of personal telephone numbers or private home addresses.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13716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 M P A C T S   &amp;   B E N E F I T S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68680"/>
            <a:ext cx="67665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000000"/>
                </a:solidFill>
                <a:latin typeface="Segoe UI"/>
              </a:rPr>
              <a:t>• Cultural Preservation &amp; Digitization : </a:t>
            </a:r>
            <a:r>
              <a:rPr sz="1000">
                <a:solidFill>
                  <a:srgbClr val="334155"/>
                </a:solidFill>
                <a:latin typeface="Segoe UI"/>
              </a:rPr>
              <a:t>Digitally structures and safeguards fragile palm-leaf and birch-bark manuscripts, epigraphical records, and vanishing oral craft knowledge before physical decay occurs.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00000"/>
                </a:solidFill>
                <a:latin typeface="Segoe UI"/>
              </a:rPr>
              <a:t>• Educational &amp; Youth Engagement : </a:t>
            </a:r>
            <a:r>
              <a:rPr sz="1000">
                <a:solidFill>
                  <a:srgbClr val="334155"/>
                </a:solidFill>
                <a:latin typeface="Segoe UI"/>
              </a:rPr>
              <a:t>Replaces passive textbook memorization with tactile 360° WebGL inspection, interactive geospatial timelines, and voice-assisted exploration for schools and universities nationwide.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00000"/>
                </a:solidFill>
                <a:latin typeface="Segoe UI"/>
              </a:rPr>
              <a:t>• Artisan Livelihood &amp; Sustainable Tourism (SDG 11) : </a:t>
            </a:r>
            <a:r>
              <a:rPr sz="1000">
                <a:solidFill>
                  <a:srgbClr val="334155"/>
                </a:solidFill>
                <a:latin typeface="Segoe UI"/>
              </a:rPr>
              <a:t>Connects cultural tourists with GI-certified master artisan guilds and disperses tourist crowds from overburdened monuments to lesser-known heritage clusters.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868680"/>
          <a:ext cx="42976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914400"/>
                <a:gridCol w="914400"/>
              </a:tblGrid>
              <a:tr h="279400"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0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Existing Portals</a:t>
                      </a:r>
                    </a:p>
                  </a:txBody>
                  <a:tcPr>
                    <a:solidFill>
                      <a:srgbClr val="00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VirasatX</a:t>
                      </a:r>
                    </a:p>
                  </a:txBody>
                  <a:tcPr>
                    <a:solidFill>
                      <a:srgbClr val="002B49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Interconnected Cultural Context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360° WebGL Archival Studio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Visual Iconography AI Scanner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Grounded ASI Accession Citations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Living GI Artisan Guild Linkages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Ancient Manuscript Decipherment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Responsible Travel &amp; Carrying Capacity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 Local Media SafeImage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5803D"/>
                          </a:solidFill>
                          <a:latin typeface="Segoe UI"/>
                        </a:defRPr>
                      </a:pPr>
                      <a:r>
                        <a:t>✔️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520440"/>
            <a:ext cx="11338560" cy="3200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2B49"/>
                </a:solidFill>
                <a:latin typeface="Segoe UI"/>
              </a:defRPr>
            </a:pPr>
            <a:r>
              <a:t>H O W   V I R A S A T X   W O R K S   A C R O S S   M O D E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931920"/>
            <a:ext cx="3566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" y="3931920"/>
            <a:ext cx="3566160" cy="38404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MODE 1: EXPLORER (Public &amp; Students)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70832"/>
            <a:ext cx="3383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For : </a:t>
            </a:r>
            <a:r>
              <a:rPr sz="850">
                <a:solidFill>
                  <a:srgbClr val="334155"/>
                </a:solidFill>
              </a:rPr>
              <a:t>Students, tourists, and casual cultural enthusiasts.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Process : </a:t>
            </a:r>
            <a:r>
              <a:rPr sz="850">
                <a:solidFill>
                  <a:srgbClr val="334155"/>
                </a:solidFill>
              </a:rPr>
              <a:t>Interactive search ➔ 3D model inspection ➔ Audio narrative ➔ Timeline navigation.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Time : </a:t>
            </a:r>
            <a:r>
              <a:rPr sz="850">
                <a:solidFill>
                  <a:srgbClr val="334155"/>
                </a:solidFill>
              </a:rPr>
              <a:t>Instant (sub-second query response).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Success Rate : </a:t>
            </a:r>
            <a:r>
              <a:rPr sz="850">
                <a:solidFill>
                  <a:srgbClr val="334155"/>
                </a:solidFill>
              </a:rPr>
              <a:t>100% curated client availability.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Best For : </a:t>
            </a:r>
            <a:r>
              <a:rPr sz="850">
                <a:solidFill>
                  <a:srgbClr val="334155"/>
                </a:solidFill>
              </a:rPr>
              <a:t>Visual learning, monument discovery, school projects.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566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3931920"/>
            <a:ext cx="3566160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MODE 2: SCHOLAR &amp; RESEARCHER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370832"/>
            <a:ext cx="3383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For : </a:t>
            </a:r>
            <a:r>
              <a:rPr sz="850">
                <a:solidFill>
                  <a:srgbClr val="334155"/>
                </a:solidFill>
              </a:rPr>
              <a:t>Historians, archaeologists, and epigraphists.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Process : </a:t>
            </a:r>
            <a:r>
              <a:rPr sz="850">
                <a:solidFill>
                  <a:srgbClr val="334155"/>
                </a:solidFill>
              </a:rPr>
              <a:t>Ask Virasat AI ➔ Vector retrieval ➔ Accession citations ➔ Script transcription.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Time : </a:t>
            </a:r>
            <a:r>
              <a:rPr sz="850">
                <a:solidFill>
                  <a:srgbClr val="334155"/>
                </a:solidFill>
              </a:rPr>
              <a:t>1-3 seconds RAG inference.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Success Rate : </a:t>
            </a:r>
            <a:r>
              <a:rPr sz="850">
                <a:solidFill>
                  <a:srgbClr val="334155"/>
                </a:solidFill>
              </a:rPr>
              <a:t>95%+ citation grounding accuracy.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Best For : </a:t>
            </a:r>
            <a:r>
              <a:rPr sz="850">
                <a:solidFill>
                  <a:srgbClr val="334155"/>
                </a:solidFill>
              </a:rPr>
              <a:t>Iconographic analysis, academic research, catalog citations.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3931920"/>
            <a:ext cx="3566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83879" y="3931920"/>
            <a:ext cx="3566160" cy="384048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MODE 3: LIVING HERITAGE &amp; TRAVEL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4370832"/>
            <a:ext cx="3383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For : </a:t>
            </a:r>
            <a:r>
              <a:rPr sz="850">
                <a:solidFill>
                  <a:srgbClr val="334155"/>
                </a:solidFill>
              </a:rPr>
              <a:t>Cultural travelers and craft patrons.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Process : </a:t>
            </a:r>
            <a:r>
              <a:rPr sz="850">
                <a:solidFill>
                  <a:srgbClr val="334155"/>
                </a:solidFill>
              </a:rPr>
              <a:t>Plan Visit ➔ Dawn/dusk crowd advisories ➔ Discover nearby GI crafts ➔ Cooperative routing.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Time : </a:t>
            </a:r>
            <a:r>
              <a:rPr sz="850">
                <a:solidFill>
                  <a:srgbClr val="334155"/>
                </a:solidFill>
              </a:rPr>
              <a:t>Real-time spatial corridor calculation.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Success Rate : </a:t>
            </a:r>
            <a:r>
              <a:rPr sz="850">
                <a:solidFill>
                  <a:srgbClr val="334155"/>
                </a:solidFill>
              </a:rPr>
              <a:t>100% verified GI cooperative registry.</a:t>
            </a:r>
          </a:p>
          <a:p>
            <a:pPr>
              <a:spcAft>
                <a:spcPts val="250"/>
              </a:spcAft>
            </a:pPr>
            <a:r>
              <a:rPr b="1" sz="850">
                <a:solidFill>
                  <a:srgbClr val="000000"/>
                </a:solidFill>
              </a:rPr>
              <a:t>• Best For : </a:t>
            </a:r>
            <a:r>
              <a:rPr sz="850">
                <a:solidFill>
                  <a:srgbClr val="334155"/>
                </a:solidFill>
              </a:rPr>
              <a:t>Ethical cultural itineraries, craft preservation, rural economy.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rasat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0120" y="16459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2B49"/>
                </a:solidFill>
                <a:latin typeface="Segoe UI"/>
              </a:defRPr>
            </a:pPr>
            <a:r>
              <a:t>VirasatX</a:t>
            </a:r>
          </a:p>
          <a:p>
            <a:pPr>
              <a:defRPr sz="850" b="1">
                <a:solidFill>
                  <a:srgbClr val="0070C0"/>
                </a:solidFill>
                <a:latin typeface="Segoe UI"/>
              </a:defRPr>
            </a:pPr>
            <a:r>
              <a:t>India's Heritage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13716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 E S E A R C H   A N D   R E F E R E N C E S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7160"/>
            <a:ext cx="1600200" cy="466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@ V I R A S A T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68680"/>
            <a:ext cx="1133856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b="1" sz="950">
                <a:solidFill>
                  <a:srgbClr val="000000"/>
                </a:solidFill>
              </a:rPr>
              <a:t>• Archaeological Survey of India (ASI) : </a:t>
            </a:r>
            <a:r>
              <a:rPr sz="900">
                <a:solidFill>
                  <a:srgbClr val="334155"/>
                </a:solidFill>
              </a:rPr>
              <a:t>Primary repository of centrally protected monuments, excavation records, and accession catalogs. Links : asi.nic.in / NMMA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00000"/>
                </a:solidFill>
              </a:rPr>
              <a:t>• National Mission for Manuscripts (NMM) : </a:t>
            </a:r>
            <a:r>
              <a:rPr sz="900">
                <a:solidFill>
                  <a:srgbClr val="334155"/>
                </a:solidFill>
              </a:rPr>
              <a:t>National database of ancient Indian manuscripts, scripts, and preservation guidelines. Links : namami.gov.in / IGNCA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00000"/>
                </a:solidFill>
              </a:rPr>
              <a:t>• Geographical Indications Registry of India : </a:t>
            </a:r>
            <a:r>
              <a:rPr sz="900">
                <a:solidFill>
                  <a:srgbClr val="334155"/>
                </a:solidFill>
              </a:rPr>
              <a:t>Official documentation for GI-certified traditional craft practices (GI-029 Swamimalai, GI-007 Aranmula). Link : ipindia.gov.in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00000"/>
                </a:solidFill>
              </a:rPr>
              <a:t>• UNESCO World Heritage Centre : </a:t>
            </a:r>
            <a:r>
              <a:rPr sz="900">
                <a:solidFill>
                  <a:srgbClr val="334155"/>
                </a:solidFill>
              </a:rPr>
              <a:t>Cultural criteria and sustainable tourism framework for monumental conservation (SDG 11). Link : whc.unesco.org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651760"/>
            <a:ext cx="5212080" cy="16002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0070C0"/>
                </a:solidFill>
                <a:latin typeface="Segoe UI"/>
              </a:defRPr>
            </a:pPr>
            <a:r>
              <a:t>SOLUTIONS ALREADY EXIST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Most existing portals are isolated, static, and text-heavy; designed only for administrative filing.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Separate websites for monuments, museums, manuscripts, and tourism with zero cross-linking.</a:t>
            </a:r>
          </a:p>
          <a:p>
            <a:r>
              <a:rPr b="1" sz="900">
                <a:solidFill>
                  <a:srgbClr val="000000"/>
                </a:solidFill>
              </a:rPr>
              <a:t>• AVAILABLE SITES : </a:t>
            </a:r>
            <a:r>
              <a:rPr sz="900">
                <a:solidFill>
                  <a:srgbClr val="0070C0"/>
                </a:solidFill>
              </a:rPr>
              <a:t>ASI Portal / NMMA / State Tourism Portals / Commercial Travel Apps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200400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51760"/>
            <a:ext cx="52120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000" b="1">
                <a:solidFill>
                  <a:srgbClr val="0070C0"/>
                </a:solidFill>
                <a:latin typeface="Segoe UI"/>
              </a:defRPr>
            </a:pPr>
            <a:r>
              <a:t>OUR SOLUTION STANDS OUT</a:t>
            </a:r>
          </a:p>
          <a:p>
            <a:pPr>
              <a:spcAft>
                <a:spcPts val="150"/>
              </a:spcAft>
            </a:pPr>
            <a:r>
              <a:rPr b="1" sz="900">
                <a:solidFill>
                  <a:srgbClr val="000000"/>
                </a:solidFill>
              </a:rPr>
              <a:t>• One Ecosystem : </a:t>
            </a:r>
            <a:r>
              <a:rPr sz="900">
                <a:solidFill>
                  <a:srgbClr val="334155"/>
                </a:solidFill>
              </a:rPr>
              <a:t>Unites monuments, artifacts, manuscripts, and living traditions.</a:t>
            </a:r>
          </a:p>
          <a:p>
            <a:pPr>
              <a:spcAft>
                <a:spcPts val="150"/>
              </a:spcAft>
            </a:pPr>
            <a:r>
              <a:rPr b="1" sz="900">
                <a:solidFill>
                  <a:srgbClr val="000000"/>
                </a:solidFill>
              </a:rPr>
              <a:t>• Evidence-Aware : </a:t>
            </a:r>
            <a:r>
              <a:rPr sz="900">
                <a:solidFill>
                  <a:srgbClr val="334155"/>
                </a:solidFill>
              </a:rPr>
              <a:t>Real-time RAG citing exact ASI accession records [ASI-104].</a:t>
            </a:r>
          </a:p>
          <a:p>
            <a:pPr>
              <a:spcAft>
                <a:spcPts val="150"/>
              </a:spcAft>
            </a:pPr>
            <a:r>
              <a:rPr b="1" sz="900">
                <a:solidFill>
                  <a:srgbClr val="000000"/>
                </a:solidFill>
              </a:rPr>
              <a:t>• Tactile &amp; Geospatial : </a:t>
            </a:r>
            <a:r>
              <a:rPr sz="900">
                <a:solidFill>
                  <a:srgbClr val="334155"/>
                </a:solidFill>
              </a:rPr>
              <a:t>360° Three.js WebGL studio and 6-corridor Leaflet atlas.</a:t>
            </a:r>
          </a:p>
          <a:p>
            <a:pPr>
              <a:spcAft>
                <a:spcPts val="150"/>
              </a:spcAft>
            </a:pPr>
            <a:r>
              <a:rPr b="1" sz="900">
                <a:solidFill>
                  <a:srgbClr val="000000"/>
                </a:solidFill>
              </a:rPr>
              <a:t>• Ethical Custodianship : </a:t>
            </a:r>
            <a:r>
              <a:rPr sz="900">
                <a:solidFill>
                  <a:srgbClr val="334155"/>
                </a:solidFill>
              </a:rPr>
              <a:t>Promotes GI craft guilds with zero personal contact exposure.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89120"/>
            <a:ext cx="548640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000" b="1">
                <a:solidFill>
                  <a:srgbClr val="0070C0"/>
                </a:solidFill>
                <a:latin typeface="Segoe UI"/>
              </a:defRPr>
            </a:pPr>
            <a:r>
              <a:t>PROJECT RESOURCES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Live Prototype : </a:t>
            </a:r>
            <a:r>
              <a:rPr sz="900">
                <a:solidFill>
                  <a:srgbClr val="0070C0"/>
                </a:solidFill>
              </a:rPr>
              <a:t>https://virasatxai.vercel.app/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GitHub Repository : </a:t>
            </a:r>
            <a:r>
              <a:rPr sz="900">
                <a:solidFill>
                  <a:srgbClr val="0070C0"/>
                </a:solidFill>
              </a:rPr>
              <a:t>https://github.com/ShrilCarpenter/VirasatX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Full Documentation : </a:t>
            </a:r>
            <a:r>
              <a:rPr sz="900">
                <a:solidFill>
                  <a:srgbClr val="334155"/>
                </a:solidFill>
              </a:rPr>
              <a:t>Architecture, API Specs &amp; License in README.md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00000"/>
                </a:solidFill>
              </a:rPr>
              <a:t>Problem Statement : </a:t>
            </a:r>
            <a:r>
              <a:rPr sz="900">
                <a:solidFill>
                  <a:srgbClr val="334155"/>
                </a:solidFill>
              </a:rPr>
              <a:t>SIH26197 • Heritage &amp; Culture • AICTE</a:t>
            </a:r>
          </a:p>
        </p:txBody>
      </p:sp>
      <p:pic>
        <p:nvPicPr>
          <p:cNvPr id="14" name="Picture 13" descr="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4389120"/>
            <a:ext cx="2743200" cy="16459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080760" y="60533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</a:defRPr>
            </a:pPr>
            <a:r>
              <a:t>Interactive Platform</a:t>
            </a:r>
          </a:p>
        </p:txBody>
      </p:sp>
      <p:pic>
        <p:nvPicPr>
          <p:cNvPr id="16" name="Picture 15" descr="ai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4389120"/>
            <a:ext cx="2743200" cy="16459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006840" y="60533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</a:defRPr>
            </a:pPr>
            <a:r>
              <a:t>Virasat AI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