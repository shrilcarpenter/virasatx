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  <a:latin typeface="Times New Roman"/>
              </a:defRPr>
            </a:pPr>
            <a:r>
              <a:t>SMART INDIA HACKATHON 2025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828800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• Problem Statement ID – </a:t>
            </a:r>
            <a:r>
              <a:rPr sz="1400">
                <a:solidFill>
                  <a:srgbClr val="000000"/>
                </a:solidFill>
                <a:latin typeface="Arial"/>
              </a:rPr>
              <a:t>SIH26195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• Problem Statement Title- </a:t>
            </a:r>
            <a:r>
              <a:rPr sz="1400">
                <a:solidFill>
                  <a:srgbClr val="000000"/>
                </a:solidFill>
                <a:latin typeface="Arial"/>
              </a:rPr>
              <a:t>Digital Preservation, AI-Powered Paleography and Interactive 3D WebGIS Atlas for Indian Cultural Heritage, Monuments &amp; Ancient Manuscripts. (Centres to be concentrated: National Archives, ASI Sites, Craft Clusters)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• Theme- </a:t>
            </a:r>
            <a:r>
              <a:rPr sz="1400">
                <a:solidFill>
                  <a:srgbClr val="000000"/>
                </a:solidFill>
                <a:latin typeface="Arial"/>
              </a:rPr>
              <a:t>Heritage &amp; Culture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• PS Category- </a:t>
            </a:r>
            <a:r>
              <a:rPr sz="1400">
                <a:solidFill>
                  <a:srgbClr val="000000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• Team ID- </a:t>
            </a:r>
            <a:r>
              <a:rPr sz="1400">
                <a:solidFill>
                  <a:srgbClr val="000000"/>
                </a:solidFill>
                <a:latin typeface="Arial"/>
              </a:rPr>
              <a:t>57385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• Team Name- </a:t>
            </a:r>
            <a:r>
              <a:rPr sz="1400">
                <a:solidFill>
                  <a:srgbClr val="000000"/>
                </a:solidFill>
                <a:latin typeface="Arial"/>
              </a:rPr>
              <a:t>Sanskriti RakshaX</a:t>
            </a:r>
          </a:p>
        </p:txBody>
      </p:sp>
      <p:pic>
        <p:nvPicPr>
          <p:cNvPr id="6" name="Picture 5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37360"/>
            <a:ext cx="347472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6916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Sanskriti RakshaX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274320"/>
            <a:ext cx="55778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IDEA TITLE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74320"/>
            <a:ext cx="1737360" cy="506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13716" cy="5120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Proposed Solution: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3D Archival &amp; Artifact Studio :
</a:t>
            </a:r>
            <a:r>
              <a:rPr sz="1050">
                <a:solidFill>
                  <a:srgbClr val="000000"/>
                </a:solidFill>
                <a:latin typeface="Arial"/>
              </a:rPr>
              <a:t>  360° interactive rotation, dynamic lighting &amp; sub-millimeter zoom inspection for sculptures.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Ancient Manuscript Paleography :
</a:t>
            </a:r>
            <a:r>
              <a:rPr sz="1050">
                <a:solidFill>
                  <a:srgbClr val="000000"/>
                </a:solidFill>
                <a:latin typeface="Arial"/>
              </a:rPr>
              <a:t>  AI decipherment of fragile palm-leaf (Talapatra) &amp; birch-bark scripts with Sanskrit audio.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Multimodal AI Heritage Guide :
</a:t>
            </a:r>
            <a:r>
              <a:rPr sz="1050">
                <a:solidFill>
                  <a:srgbClr val="000000"/>
                </a:solidFill>
                <a:latin typeface="Arial"/>
              </a:rPr>
              <a:t>  Voice, vision, and multilingual conversational assistance grounded in verified archives.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Computer Vision Iconography Scanner :
</a:t>
            </a:r>
            <a:r>
              <a:rPr sz="1050">
                <a:solidFill>
                  <a:srgbClr val="000000"/>
                </a:solidFill>
                <a:latin typeface="Arial"/>
              </a:rPr>
              <a:t>  Identifies dynastic art styles, postures (asanas), mudras, and motifs from photos.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Chronological Epoch Explorer :
</a:t>
            </a:r>
            <a:r>
              <a:rPr sz="1050">
                <a:solidFill>
                  <a:srgbClr val="000000"/>
                </a:solidFill>
                <a:latin typeface="Arial"/>
              </a:rPr>
              <a:t>  Interactive 11-epoch historical timeline spanning 5,000+ years of civilizational heritage.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Interactive Heritage Web-GIS Atlas :
</a:t>
            </a:r>
            <a:r>
              <a:rPr sz="1050">
                <a:solidFill>
                  <a:srgbClr val="000000"/>
                </a:solidFill>
                <a:latin typeface="Arial"/>
              </a:rPr>
              <a:t>  Dynamic platform for exploring monuments, excavations, and conservation zones.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GI Artisan Marketplace &amp; Livelihood :
</a:t>
            </a:r>
            <a:r>
              <a:rPr sz="1050">
                <a:solidFill>
                  <a:srgbClr val="000000"/>
                </a:solidFill>
                <a:latin typeface="Arial"/>
              </a:rPr>
              <a:t>  Direct fair-trade connect supporting GI-certified traditional master artisan cooperatives.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Sustainable Tourism &amp; Itinerary AI :
</a:t>
            </a:r>
            <a:r>
              <a:rPr sz="1050">
                <a:solidFill>
                  <a:srgbClr val="000000"/>
                </a:solidFill>
                <a:latin typeface="Arial"/>
              </a:rPr>
              <a:t>  Eco-friendly tour planner dispersing crowds away from overtouristed monuments.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GI Tagging and E-Signature :
</a:t>
            </a:r>
            <a:r>
              <a:rPr sz="1050">
                <a:solidFill>
                  <a:srgbClr val="000000"/>
                </a:solidFill>
                <a:latin typeface="Arial"/>
              </a:rPr>
              <a:t>  To preserve cultural heritage, safeguard traditional products and paperless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43000"/>
            <a:ext cx="1645920" cy="320040"/>
          </a:xfrm>
          <a:prstGeom prst="round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4630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1645920" cy="27432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User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164592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User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164592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Artifact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971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164592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3D Studio &amp;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4747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164592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AI Guide &amp; 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77639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160520"/>
            <a:ext cx="164592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Artisan 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4805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63440"/>
            <a:ext cx="164592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Feedback &amp;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691640"/>
            <a:ext cx="1645920" cy="27432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Govt 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965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148840"/>
            <a:ext cx="128016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Ministry Of Culture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148840"/>
            <a:ext cx="100584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ASI Depts.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98480" y="2148840"/>
            <a:ext cx="109728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NMM &amp; Archives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46888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651760"/>
            <a:ext cx="237744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Government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971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154680"/>
            <a:ext cx="237744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Document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4747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3657600"/>
            <a:ext cx="237744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0000"/>
                </a:solidFill>
                <a:latin typeface="Arial"/>
              </a:defRPr>
            </a:pPr>
            <a:r>
              <a:t>Spatial &amp; Epigraphic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977639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4160520"/>
            <a:ext cx="237744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Approve/Publish Exhibit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44805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663440"/>
            <a:ext cx="237744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Update Heritage Atlas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98348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5166360"/>
            <a:ext cx="2377440" cy="32004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Generate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349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5623560"/>
            <a:ext cx="4023360" cy="411480"/>
          </a:xfrm>
          <a:prstGeom prst="rect">
            <a:avLst/>
          </a:prstGeom>
          <a:solidFill>
            <a:srgbClr val="FEF08A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VirasatX Central Heritage Atlas + 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6916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Sanskriti RakshaX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274320"/>
            <a:ext cx="55778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TECHNICAL APPROACH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74320"/>
            <a:ext cx="1737360" cy="506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13716" cy="5120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Data Extraction: </a:t>
            </a:r>
            <a:r>
              <a:rPr sz="1000">
                <a:solidFill>
                  <a:srgbClr val="000000"/>
                </a:solidFill>
                <a:latin typeface="Arial"/>
              </a:rPr>
              <a:t>Optical Character Recognition (OCR), NLP, Vision Transformers.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WebGIS platform: </a:t>
            </a:r>
            <a:r>
              <a:rPr sz="1000">
                <a:solidFill>
                  <a:srgbClr val="000000"/>
                </a:solidFill>
                <a:latin typeface="Arial"/>
              </a:rPr>
              <a:t>Leaflet.js &amp; OpenLayers (for interactive maps).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Asset Mapping: </a:t>
            </a:r>
            <a:r>
              <a:rPr sz="1000">
                <a:solidFill>
                  <a:srgbClr val="000000"/>
                </a:solidFill>
                <a:latin typeface="Arial"/>
              </a:rPr>
              <a:t>Random Forest &amp; CNN (for motif &amp; iconography classification).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Data Storage: </a:t>
            </a:r>
            <a:r>
              <a:rPr sz="1000">
                <a:solidFill>
                  <a:srgbClr val="000000"/>
                </a:solidFill>
                <a:latin typeface="Arial"/>
              </a:rPr>
              <a:t>PostgreSQL &amp; PostGIS (for geospatial data).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Data Management: </a:t>
            </a:r>
            <a:r>
              <a:rPr sz="1000">
                <a:solidFill>
                  <a:srgbClr val="000000"/>
                </a:solidFill>
                <a:latin typeface="Arial"/>
              </a:rPr>
              <a:t>Cloud Object Storage &amp; MySQL (Structured metadata).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GeoServer: </a:t>
            </a:r>
            <a:r>
              <a:rPr sz="1000">
                <a:solidFill>
                  <a:srgbClr val="000000"/>
                </a:solidFill>
                <a:latin typeface="Arial"/>
              </a:rPr>
              <a:t>Use standard protocols WMS and WFS to serve maps.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Decision Support System: </a:t>
            </a:r>
            <a:r>
              <a:rPr sz="1000">
                <a:solidFill>
                  <a:srgbClr val="000000"/>
                </a:solidFill>
                <a:latin typeface="Arial"/>
              </a:rPr>
              <a:t>For tourist dispersal &amp; scheme recommendations.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Blockchain based Security: </a:t>
            </a:r>
            <a:r>
              <a:rPr sz="1000">
                <a:solidFill>
                  <a:srgbClr val="000000"/>
                </a:solidFill>
                <a:latin typeface="Arial"/>
              </a:rPr>
              <a:t>Hyperledger Fabric (for digital provenance &amp; GI).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Key Lock Framework: </a:t>
            </a:r>
            <a:r>
              <a:rPr sz="1000">
                <a:solidFill>
                  <a:srgbClr val="000000"/>
                </a:solidFill>
                <a:latin typeface="Arial"/>
              </a:rPr>
              <a:t>Open-source Identity &amp; Access Management.</a:t>
            </a:r>
          </a:p>
          <a:p>
            <a:pPr>
              <a:spcAft>
                <a:spcPts val="200"/>
              </a:spcAft>
            </a:pPr>
            <a:r>
              <a:rPr sz="1050" b="1" u="sng">
                <a:solidFill>
                  <a:srgbClr val="15803D"/>
                </a:solidFill>
                <a:latin typeface="Arial"/>
              </a:rPr>
              <a:t>• Rasa / RAG AI: </a:t>
            </a:r>
            <a:r>
              <a:rPr sz="1000">
                <a:solidFill>
                  <a:srgbClr val="000000"/>
                </a:solidFill>
                <a:latin typeface="Arial"/>
              </a:rPr>
              <a:t>Preferred for its offline, multilingual, and secure chatbot.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34840"/>
            <a:ext cx="5394960" cy="16916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5803D"/>
                </a:solidFill>
                <a:latin typeface="Arial"/>
              </a:defRPr>
            </a:pPr>
            <a:r>
              <a:t>🏛️ VirasatX Digital Heritage Portal (Draft Live Prototype)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[ Navigation: 3D Studio | Manuscripts | Heritage Map | AI Curatorial Guide ]</a:t>
            </a:r>
            <a:br/>
            <a:r>
              <a:t>• 3D Canvas: 360° rotation, real-time lighting simulation, sub-mm loupe.</a:t>
            </a:r>
            <a:br/>
            <a:r>
              <a:t>• AI Sidecar: Grounded RAG citations with ancient script transcription.</a:t>
            </a:r>
          </a:p>
          <a:p>
            <a:pPr>
              <a:defRPr sz="950" b="1">
                <a:solidFill>
                  <a:srgbClr val="000000"/>
                </a:solidFill>
                <a:latin typeface="Arial"/>
              </a:defRPr>
            </a:pPr>
            <a:r>
              <a:t>User Interface: It is a draft version, subject to future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143000"/>
            <a:ext cx="292608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🌐 Web / Mobile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5361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120640" cy="502920"/>
          </a:xfrm>
          <a:prstGeom prst="rect">
            <a:avLst/>
          </a:prstGeom>
          <a:solidFill>
            <a:srgbClr val="F8FAFC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Frontend Layer (HTML5, CSS, JS, Leaflet.js, Three.js, React 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latin typeface="Arial"/>
              </a:defRPr>
            </a:pPr>
            <a:r>
              <a:t>▲ Request                       ▼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14600"/>
            <a:ext cx="5120640" cy="365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0000"/>
                </a:solidFill>
                <a:latin typeface="Arial"/>
              </a:defRPr>
            </a:pPr>
            <a:r>
              <a:t>Backend (API Gateway / Node.js)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8803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1600200" cy="502920"/>
          </a:xfrm>
          <a:prstGeom prst="rect">
            <a:avLst/>
          </a:prstGeom>
          <a:solidFill>
            <a:srgbClr val="EFF6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0000"/>
                </a:solidFill>
                <a:latin typeface="Arial"/>
              </a:defRPr>
            </a:pPr>
            <a:r>
              <a:t>GIS Module</a:t>
            </a:r>
            <a:br/>
            <a:r>
              <a:t>(GeoServer/Leaflet)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108960"/>
            <a:ext cx="1600200" cy="502920"/>
          </a:xfrm>
          <a:prstGeom prst="rect">
            <a:avLst/>
          </a:prstGeom>
          <a:solidFill>
            <a:srgbClr val="FDF2F8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0000"/>
                </a:solidFill>
                <a:latin typeface="Arial"/>
              </a:defRPr>
            </a:pPr>
            <a:r>
              <a:t>AI/ML Core</a:t>
            </a:r>
            <a:br/>
            <a:r>
              <a:t>(CNN &amp; Paleography)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3108960"/>
            <a:ext cx="1600200" cy="502920"/>
          </a:xfrm>
          <a:prstGeom prst="rect">
            <a:avLst/>
          </a:prstGeom>
          <a:solidFill>
            <a:srgbClr val="FEF3C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0000"/>
                </a:solidFill>
                <a:latin typeface="Arial"/>
              </a:defRPr>
            </a:pPr>
            <a:r>
              <a:t>Blockchain</a:t>
            </a:r>
            <a:br/>
            <a:r>
              <a:t>(Hyperledger Fabric)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6576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886200"/>
            <a:ext cx="5120640" cy="411480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Data Storage: PostgreSQL + PostGIS | Cloud Object Storage | MySQL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526280"/>
            <a:ext cx="2468880" cy="594360"/>
          </a:xfrm>
          <a:prstGeom prst="rect">
            <a:avLst/>
          </a:prstGeom>
          <a:solidFill>
            <a:srgbClr val="F0F9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0000"/>
                </a:solidFill>
                <a:latin typeface="Arial"/>
              </a:defRPr>
            </a:pPr>
            <a:r>
              <a:t>Integration:</a:t>
            </a:r>
            <a:br/>
            <a:r>
              <a:t>Satellite APIs | Government APIs | Decision Support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4526280"/>
            <a:ext cx="2468880" cy="594360"/>
          </a:xfrm>
          <a:prstGeom prst="rect">
            <a:avLst/>
          </a:prstGeom>
          <a:solidFill>
            <a:srgbClr val="F0FDF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0000"/>
                </a:solidFill>
                <a:latin typeface="Arial"/>
              </a:defRPr>
            </a:pPr>
            <a:r>
              <a:t>Security:</a:t>
            </a:r>
            <a:br/>
            <a:r>
              <a:t>Blockchain, JSON Web Tokens, AES-256 &amp; RSA Encryption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6916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Sanskriti RakshaX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274320"/>
            <a:ext cx="55778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74320"/>
            <a:ext cx="1737360" cy="506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13716" cy="5120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Feasibility:</a:t>
            </a:r>
          </a:p>
          <a:p>
            <a:pPr>
              <a:spcBef>
                <a:spcPts val="3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1. Technical Feasibility: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1. Digitization, AI Mapping and Web-GIS Dashboards: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OCR and AI extract data from fragile ancient manuscripts.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Web-GIS dashboards show real-time interactive heritage maps.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2. DSS Integration with Blockchain Security: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AI engines match cultural schemes to community needs.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Blockchain ensures secure, tamper-proof digital records.</a:t>
            </a:r>
          </a:p>
          <a:p>
            <a:pPr>
              <a:spcBef>
                <a:spcPts val="3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2. Operational Feasibility: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1. Existing Setup and Simple Staff Training: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Museum and archival data exists, needs unified connection.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Staff need basic training through short workshops.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2. Stakeholder Support and Effective Implementation: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Ministries and cultural NGOs already support heritage preservation.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System strengthens efforts, not replacing existing work.</a:t>
            </a:r>
          </a:p>
          <a:p>
            <a:pPr>
              <a:spcBef>
                <a:spcPts val="3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3. Legal &amp; Ethical Feasibility: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1. Data Privacy: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Must follow India’s DPDP Act, ensuring legal compliance.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Blockchain and encryption safeguard sensitive user data.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2. Consent Mechanism: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Holders' informed consent required in all processes.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Real-time feedback enables secure two-way communication.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Viability:</a:t>
            </a:r>
          </a:p>
          <a:p>
            <a:pPr>
              <a:spcBef>
                <a:spcPts val="3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1. Economic Viability: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1. Cost-Effective &amp; Efficient: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Saves paperwork, effort, duplication, and reduces physical wear.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Cuts processing delays, expenses, and operational overhead.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2. Supported &amp; Scalable Technology: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Backed by government programs and cultural inclusion schemes.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Open-source tech ensures flexible, low-cost, future-ready deployment.</a:t>
            </a:r>
          </a:p>
          <a:p>
            <a:pPr>
              <a:spcBef>
                <a:spcPts val="3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2. Social Viability: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1. Empowers Communities &amp; Improves Scheme Access: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Provides transparency, secure records, and better documentation.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Directly benefits artisan cooperatives through market access.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2. Reduces Conflict &amp; Promotes Stronger Inclusion: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Verified records, citations reduce frequent historical disputes.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Mobile updates, two-way communication improve engagement.</a:t>
            </a:r>
          </a:p>
          <a:p>
            <a:pPr>
              <a:spcBef>
                <a:spcPts val="3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3. Scalability: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1. Pan-India Expansion for Wider Community Benefits: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Pilot in districts &amp; ASI circles, then scale across India.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Adjust platform easily for local data and regional dialects.</a:t>
            </a:r>
          </a:p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  2. Cross-Sector Use of WebGIS + DSS: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Adaptable for archaeology, urban heritage planning needs.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    • Useful in disaster management and post-crisis restoration.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6916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Sanskriti RakshaX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274320"/>
            <a:ext cx="55778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IMPACT AND BENEFITS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74320"/>
            <a:ext cx="1737360" cy="506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13716" cy="5120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Benefits: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1. Social Benefits: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Digital platform enables communities with interactive heritage learning.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IVR helpline, e-learning ensure inclusive literacy access.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Transparent records, video testimonies reduce conflict, build trust.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2. Environmental Benefits: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Sustainable tourism through AI crowd dispersal around monuments.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Conservation through community stewardship and digital archiving.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GI Tagging preserves cultural heritage &amp; traditional handicraft products.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3. Economic Benefits: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Access to schemes (Heritage City Development, PRASHAD, Swadesh Darshan).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GI Tagging boosts local artisanal products &amp; tribal livelihoods.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Direct artisan connection ensures secure economic stability -&gt; fair wages.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4. Governance Benefits: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Audit trails ensure curatorial accountability, prevent misuse.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Whistleblowing/review portal boosts transparency, fights illicit trade.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Cross-validation stops duplication and fraudulent claims.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5. Legal &amp; Security Benefits: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E-Signature &amp; Digital Records provide legally valid provenance records.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Protection against unauthorized duplication (Illegal Practice Alert).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Digital witness/testimony ensures fair dispute settlement.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Impacts: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1. Secure Cultural Rights &amp; Transparency: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Communities track claims and archival data, reducing neglect.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Digital records ensure authenticity in museum cataloging.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Builds trust between citizens, scholars, and government authorities.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2. Heritage Protection &amp; Conservation with AI: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AI monitors physical &amp; digital assets to prevent loss and decay.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Conserves ancient knowledge and safeguards rare manuscripts.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Promotes sustainable, community-driven cultural resource management.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3. Boost Livelihoods &amp; Local Development: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Resource planning improves incomes and rural handicraft economy.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GI tagging protects heritage, boosts local products internationally.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VirasatX enables fair access to national cultural welfare schemes.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4. Digital, Eco-Friendly &amp; Cost Effective: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Reduces paperwork, ensuring greener, eco-friendly e-governance.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Preserves tribal &amp; traditional knowledge through digital archiving tools.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Lowers administrative costs and increases curatorial efficiency.</a:t>
            </a:r>
          </a:p>
          <a:p>
            <a:pPr>
              <a:spcBef>
                <a:spcPts val="200"/>
              </a:spcBef>
              <a:defRPr sz="1100" b="1" u="sng">
                <a:solidFill>
                  <a:srgbClr val="15803D"/>
                </a:solidFill>
                <a:latin typeface="Arial"/>
              </a:defRPr>
            </a:pPr>
            <a:r>
              <a:t>5. Smart, Transparent &amp; Scalable Governance: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Transparent dashboards track digitization performance and visitor engagement.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AI dispute mediation ensures fairness, reduces subjective human bias.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• Unified digital platform enables future-ready, pan-India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69164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Sanskriti RakshaX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274320"/>
            <a:ext cx="55778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74320"/>
            <a:ext cx="1737360" cy="506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 u="sng">
                <a:solidFill>
                  <a:srgbClr val="15803D"/>
                </a:solidFill>
                <a:latin typeface="Arial"/>
              </a:defRPr>
            </a:pPr>
            <a:r>
              <a:t>1. Archaeological Survey of India (ASI) &amp; National Heritage Portals:</a:t>
            </a:r>
          </a:p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The Archaeological Survey of India (ASI) and Ministry of Culture govern the protection and documentation of cultural heritage monuments, ancient inscriptions, and archaeological excavations.</a:t>
            </a:r>
          </a:p>
          <a:p>
            <a:pPr>
              <a:spcAft>
                <a:spcPts val="400"/>
              </a:spcAft>
              <a:defRPr sz="1050" u="sng">
                <a:solidFill>
                  <a:srgbClr val="0070C0"/>
                </a:solidFill>
                <a:latin typeface="Arial"/>
              </a:defRPr>
            </a:pPr>
            <a:r>
              <a:t>https://asi.nic.in/  |  https://asi.nic.in/epigraphy/</a:t>
            </a:r>
          </a:p>
          <a:p>
            <a:pPr>
              <a:spcBef>
                <a:spcPts val="400"/>
              </a:spcBef>
              <a:defRPr sz="1200" b="1" u="sng">
                <a:solidFill>
                  <a:srgbClr val="15803D"/>
                </a:solidFill>
                <a:latin typeface="Arial"/>
              </a:defRPr>
            </a:pPr>
            <a:r>
              <a:t>2. National Mission for Manuscripts (NMM) &amp; Paleography Standards:</a:t>
            </a:r>
          </a:p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Established by Ministry of Culture to unearth, preserve, and digitally catalog India’s vast manuscript heritage (Talapatra, Bhojpatra) and ancient epigraphy.</a:t>
            </a:r>
          </a:p>
          <a:p>
            <a:pPr>
              <a:spcAft>
                <a:spcPts val="400"/>
              </a:spcAft>
              <a:defRPr sz="1050" u="sng">
                <a:solidFill>
                  <a:srgbClr val="0070C0"/>
                </a:solidFill>
                <a:latin typeface="Arial"/>
              </a:defRPr>
            </a:pPr>
            <a:r>
              <a:t>https://www.namami.gov.in/  |  https://ignca.gov.in/</a:t>
            </a:r>
          </a:p>
          <a:p>
            <a:pPr>
              <a:spcBef>
                <a:spcPts val="400"/>
              </a:spcBef>
              <a:defRPr sz="1200" b="1" u="sng">
                <a:solidFill>
                  <a:srgbClr val="15803D"/>
                </a:solidFill>
                <a:latin typeface="Arial"/>
              </a:defRPr>
            </a:pPr>
            <a:r>
              <a:t>3. Best Practices for Web Security &amp; Cryptographic Integrity:</a:t>
            </a:r>
          </a:p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This framework outlines key web security measures, DPDP Act 2023 compliance, and verifiable tamper-proof records using Blockchain &amp; Encryption Standards.</a:t>
            </a:r>
          </a:p>
          <a:p>
            <a:pPr>
              <a:spcAft>
                <a:spcPts val="400"/>
              </a:spcAft>
              <a:defRPr sz="1050" u="sng">
                <a:solidFill>
                  <a:srgbClr val="0070C0"/>
                </a:solidFill>
                <a:latin typeface="Arial"/>
              </a:defRPr>
            </a:pPr>
            <a:r>
              <a:t>https://owasp.org/www-project-top-ten/  |  https://www.meity.gov.in/data-protection-framework</a:t>
            </a:r>
          </a:p>
          <a:p>
            <a:pPr>
              <a:spcBef>
                <a:spcPts val="400"/>
              </a:spcBef>
              <a:defRPr sz="1200" b="1" u="sng">
                <a:solidFill>
                  <a:srgbClr val="15803D"/>
                </a:solidFill>
                <a:latin typeface="Arial"/>
              </a:defRPr>
            </a:pPr>
            <a:r>
              <a:t>4. The AMASR Act 1958 &amp; GI Registry:</a:t>
            </a:r>
          </a:p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The Ancient Monuments and Archaeological Sites and Remains Act (1958 &amp; 2010) and Geographical Indications of Goods Act (1999) safeguarding cultural heritage &amp; traditional artisan products.</a:t>
            </a:r>
          </a:p>
          <a:p>
            <a:pPr>
              <a:spcAft>
                <a:spcPts val="400"/>
              </a:spcAft>
              <a:defRPr sz="1050" u="sng">
                <a:solidFill>
                  <a:srgbClr val="0070C0"/>
                </a:solidFill>
                <a:latin typeface="Arial"/>
              </a:defRPr>
            </a:pPr>
            <a:r>
              <a:t>https://indiacode.nic.in/handle/123456789/1631  |  https://ipindia.gov.in/geographical-indications.htm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1109441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00" b="1">
                <a:solidFill>
                  <a:srgbClr val="1A365D"/>
                </a:solidFill>
                <a:latin typeface="Arial"/>
              </a:defRPr>
            </a:pPr>
            <a:r>
              <a:t>To enable smooth implementation and integration of the VirasatX System, the following contacts serve as official national-level resources for communication, data coordination, and support: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5. Ministry of Culture: https://indiaculture.gov.in/  |  secy-culture@nic.in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6. National Museum, New Delhi: https://nationalmuseumindia.gov.in/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7. National Archives of India: https://www.abhilekh-patal.in/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8. UNESCO World Heritage Centre: https://whc.unesco.org/en/statesparties/in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