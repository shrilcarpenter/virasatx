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SMART INDIA HACKATHON 2025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18872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rial"/>
              </a:defRPr>
            </a:pPr>
            <a:r>
              <a:t>TITLE PAGE</a:t>
            </a:r>
          </a:p>
        </p:txBody>
      </p:sp>
      <p:pic>
        <p:nvPicPr>
          <p:cNvPr id="5" name="Picture 4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47472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9659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Problem Statement ID –</a:t>
            </a:r>
            <a:r>
              <a:rPr sz="1700" b="1" u="sng">
                <a:solidFill>
                  <a:srgbClr val="000000"/>
                </a:solidFill>
                <a:latin typeface="Arial"/>
              </a:rPr>
              <a:t>SIH25108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Problem Statement Title-</a:t>
            </a:r>
            <a:r>
              <a:rPr sz="1650" b="1" u="none">
                <a:solidFill>
                  <a:srgbClr val="000000"/>
                </a:solidFill>
                <a:latin typeface="Arial"/>
              </a:rPr>
              <a:t>Development of AI-powered FRA Atlas and WebGIS-based Decision Support System (DSS) for Integrated Monitoring of Forest Rights Act (FRA) Implementation.
(States to be concentrated: Madhya Pradesh, Tripura , Odisha, Telangana)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Theme-</a:t>
            </a:r>
            <a:r>
              <a:rPr sz="1700" b="1" u="sng">
                <a:solidFill>
                  <a:srgbClr val="000000"/>
                </a:solidFill>
                <a:latin typeface="Arial"/>
              </a:rPr>
              <a:t>Miscellaneous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PS Category- </a:t>
            </a:r>
            <a:r>
              <a:rPr sz="1700" b="1" u="sng">
                <a:solidFill>
                  <a:srgbClr val="000000"/>
                </a:solidFill>
                <a:latin typeface="Arial"/>
              </a:rPr>
              <a:t>Software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Team ID- </a:t>
            </a:r>
            <a:r>
              <a:rPr sz="1700" b="1" u="none">
                <a:solidFill>
                  <a:srgbClr val="000000"/>
                </a:solidFill>
                <a:latin typeface="Arial"/>
              </a:rPr>
              <a:t>57385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• Team Name- </a:t>
            </a:r>
            <a:r>
              <a:rPr sz="1700" b="1" u="none">
                <a:solidFill>
                  <a:srgbClr val="000000"/>
                </a:solidFill>
                <a:latin typeface="Arial"/>
              </a:rPr>
              <a:t>Team Hackastra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Hackastra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IDEA TITLE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Proposed Solution: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NGO Digital Aid :
</a:t>
            </a:r>
            <a:r>
              <a:rPr sz="1050">
                <a:solidFill>
                  <a:srgbClr val="000000"/>
                </a:solidFill>
                <a:latin typeface="Arial"/>
              </a:rPr>
              <a:t>  Teach Gram Sabhas and communities apps, IVR, and GIS tools.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Digital Witness &amp; Testimony:
</a:t>
            </a:r>
            <a:r>
              <a:rPr sz="1050">
                <a:solidFill>
                  <a:srgbClr val="000000"/>
                </a:solidFill>
                <a:latin typeface="Arial"/>
              </a:rPr>
              <a:t>  Voice and video records stored securely as valid proof.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Title Insurance / Digital Patta :
</a:t>
            </a:r>
            <a:r>
              <a:rPr sz="1050">
                <a:solidFill>
                  <a:srgbClr val="000000"/>
                </a:solidFill>
                <a:latin typeface="Arial"/>
              </a:rPr>
              <a:t>  Ensures authenticity with secure 7/12 land record entry.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Grievance Resolution &amp; Illegal Alerts:
</a:t>
            </a:r>
            <a:r>
              <a:rPr sz="1050">
                <a:solidFill>
                  <a:srgbClr val="000000"/>
                </a:solidFill>
                <a:latin typeface="Arial"/>
              </a:rPr>
              <a:t>  Efficient FRA grievance handling and unauthorized land encroachment warnings.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AI Disciplinary Dashboard :
</a:t>
            </a:r>
            <a:r>
              <a:rPr sz="1050">
                <a:solidFill>
                  <a:srgbClr val="000000"/>
                </a:solidFill>
                <a:latin typeface="Arial"/>
              </a:rPr>
              <a:t>  Suggests actions and tracks officer accountability.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Analytics-Driven Officer Monitoring:
</a:t>
            </a:r>
            <a:r>
              <a:rPr sz="1050">
                <a:solidFill>
                  <a:srgbClr val="000000"/>
                </a:solidFill>
                <a:latin typeface="Arial"/>
              </a:rPr>
              <a:t>  Tracks verification time, claim outcomes, and grievances reported.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Interactive FRA Web-GIS Atlas:
</a:t>
            </a:r>
            <a:r>
              <a:rPr sz="1050">
                <a:solidFill>
                  <a:srgbClr val="000000"/>
                </a:solidFill>
                <a:latin typeface="Arial"/>
              </a:rPr>
              <a:t>  Dynamic platform for exploring forest rights and assets.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AI Disputes Mediator:
</a:t>
            </a:r>
            <a:r>
              <a:rPr sz="1050">
                <a:solidFill>
                  <a:srgbClr val="000000"/>
                </a:solidFill>
                <a:latin typeface="Arial"/>
              </a:rPr>
              <a:t>  Resolving conflicts within existing legal frameworks.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GI Tagging and E-Signature :
</a:t>
            </a:r>
            <a:r>
              <a:rPr sz="1050">
                <a:solidFill>
                  <a:srgbClr val="000000"/>
                </a:solidFill>
                <a:latin typeface="Arial"/>
              </a:rPr>
              <a:t>  To preserve cultural heritage safeguard traditional products and paperless approval 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ackastra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33271"/>
            <a:ext cx="56235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Hackastra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TECHNICAL APPROACH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260604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Data Extraction: </a:t>
            </a:r>
            <a:r>
              <a:rPr sz="950">
                <a:solidFill>
                  <a:srgbClr val="000000"/>
                </a:solidFill>
                <a:latin typeface="Arial"/>
              </a:rPr>
              <a:t>Optical Character Recogntion(OCR), NLP.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WebGIS platform: </a:t>
            </a:r>
            <a:r>
              <a:rPr sz="950">
                <a:solidFill>
                  <a:srgbClr val="000000"/>
                </a:solidFill>
                <a:latin typeface="Arial"/>
              </a:rPr>
              <a:t>Leaflet.js(for interactive maps).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Asset Mapping: </a:t>
            </a:r>
            <a:r>
              <a:rPr sz="950">
                <a:solidFill>
                  <a:srgbClr val="000000"/>
                </a:solidFill>
                <a:latin typeface="Arial"/>
              </a:rPr>
              <a:t>Random Forest &amp; CNN.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Data Storage: </a:t>
            </a:r>
            <a:r>
              <a:rPr sz="950">
                <a:solidFill>
                  <a:srgbClr val="000000"/>
                </a:solidFill>
                <a:latin typeface="Arial"/>
              </a:rPr>
              <a:t>PostgreSQl &amp; PostGIS(for geospatial data).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Data Management: </a:t>
            </a:r>
            <a:r>
              <a:rPr sz="950">
                <a:solidFill>
                  <a:srgbClr val="000000"/>
                </a:solidFill>
                <a:latin typeface="Arial"/>
              </a:rPr>
              <a:t>Cloud Object Storage &amp; MySQL(Structured).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GeoServer: </a:t>
            </a:r>
            <a:r>
              <a:rPr sz="950">
                <a:solidFill>
                  <a:srgbClr val="000000"/>
                </a:solidFill>
                <a:latin typeface="Arial"/>
              </a:rPr>
              <a:t>Use standard protocols WMS and WFS to serve maps.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Decision Support System: </a:t>
            </a:r>
            <a:r>
              <a:rPr sz="950">
                <a:solidFill>
                  <a:srgbClr val="000000"/>
                </a:solidFill>
                <a:latin typeface="Arial"/>
              </a:rPr>
              <a:t>for scheme recommendations.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Blockchain based Security: </a:t>
            </a:r>
            <a:r>
              <a:rPr sz="950">
                <a:solidFill>
                  <a:srgbClr val="000000"/>
                </a:solidFill>
                <a:latin typeface="Arial"/>
              </a:rPr>
              <a:t>Hyperledger Fabric.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Key Lock Framework: </a:t>
            </a:r>
            <a:r>
              <a:rPr sz="950">
                <a:solidFill>
                  <a:srgbClr val="000000"/>
                </a:solidFill>
                <a:latin typeface="Arial"/>
              </a:rPr>
              <a:t>Open-source Identity &amp; Access Management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Rasa: </a:t>
            </a:r>
            <a:r>
              <a:rPr sz="950">
                <a:solidFill>
                  <a:srgbClr val="000000"/>
                </a:solidFill>
                <a:latin typeface="Arial"/>
              </a:rPr>
              <a:t>Preferred for its offline, multilingual, and secure chatbot.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703320"/>
            <a:ext cx="54864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a_setu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730752"/>
            <a:ext cx="5431536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Arial"/>
              </a:defRPr>
            </a:pPr>
            <a:r>
              <a:t>User Interface: It is a draft version, subject to future updates.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ckastra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33271"/>
            <a:ext cx="56235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Hackastra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Feasibility: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1. Technical Feasibility: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1.Digitization, AI Mapping and Web-GIS Dashboards: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OCR and AI extract data from documents.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Web-GIS dashboards show real-time interactive maps.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DSS Integration with Blockchain Security: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AI engines match schemes to community needs.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Blockchain ensures secure, tamper-proof digital records.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2. Operational Feasibility: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1.Existing Setup and Simple Staff Training: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Government data exists, needs proper connection.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Staff need basic training through short workshops.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Stakeholder Support and Effective FRA Implementation: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Ministries and NGOs already support FRA schemes.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System strengthens efforts, not replacing existing work.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3. Legal &amp; Ethical Feasibility: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1.Data Privacy: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Must follow India’s DPDP Act, ensuring legal compliance.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Blockchain and encryption safeguard sensitive user data.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Consent Mechanism: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FRA holders’ informed consent required in all processes.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Real-time feedback enables secure two-way communication.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51560"/>
            <a:ext cx="5532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Viability: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1. Economic Viability: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1.Cost-Effective &amp; Efficient: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Saves paperwork, effort, duplication, and reduces fraud.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Cuts processing delays, expenses, and operational overhead.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Supported &amp; Scalable Technology: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Backed by government programs and tribal inclusion schemes.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Open-source tech ensures flexible, low-cost,future-ready deployment.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2. Social Viability: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 Empowers Communities &amp; Improves Scheme Access: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Provides transparency, secure records, better documentation.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Directly benefits FRA holders through scheme access.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Reduces Conflict &amp; Promotes Stronger Inclusion: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Verified records, alerts reduce frequent land disputes.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Mobile updates, two-way communication improve engagement.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3. Scalability: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1. Pan-India Expansion for Wider Community Benefits: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Pilot in districts, then scale across India.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Adjust platform easily for local data.</a:t>
            </a:r>
          </a:p>
          <a:p>
            <a:pPr>
              <a:spcAft>
                <a:spcPts val="1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2. Cross-Sector Use of WebGIS + DSS: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Adaptable for agriculture, urban development needs.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Useful in disaster management and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Hackastra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IMPACT AND BENEFITS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Benefits: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1.Social Benefits: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Digital platform enables communities with land rights tracking.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IVR helpline, e-learning ensure inclusive literacy access.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Transparent records, video testimonies reduce conflict, build trust.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2. Environmental Benefits: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Sustainable forest use by recognized communities.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Conservation through community stewardship.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GI Tagging preserves cultural heritage &amp; traditional products.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3. Economic Benefits: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Access to schemes (MGNREGA, PM-KISAN, DAGAJU, Jal Jeevan Mission)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GI Tagging boosts local products &amp; tribal livelihoods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Title insurance &amp; digital patta ensure secure land ownership → easier loans &amp; income stability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4. Governance Benefits: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Audit trails ensure accountability, prevent misuse.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Whistleblowing portal boosts transparency, fights corruption.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Cross-validation stops duplication and fraudulent claims.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5.Legal &amp; Security Benefits: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E-Signature &amp; Digital Patta provide legally valid ownership records.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Protection against land encroachment (Illegal Practice Alert).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Digital witness/testimony ensures fair dispute settlement.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51560"/>
            <a:ext cx="5532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Arial"/>
              </a:defRPr>
            </a:pPr>
            <a:r>
              <a:t>❖ Impacts: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1.Secure Land Rights &amp; Transparency: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Communities track claims, reducing corruption and fraud.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Digital patta ensures authenticity in land ownership records.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Builds trust between citizens and government authorities.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2. Forest Protection &amp; Conservation with AI: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AI monitors land to prevent illegal encroachment.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Conserves biodiversity and safeguards natural resources.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Promotes sustainable, community-driven forest management.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3. Boost Livelihoods &amp; Local Development: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Resource planning improves incomes and rural economy.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GI tagging protects heritage, boosts local products.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FRA enables fair access to welfare schemes.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4. Digital, Eco-Friendly &amp; Cost Effective: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Reduces paperwork,ensuring greener, eco-friendly governance.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Preserves tribal knowledge through digital archiving tools.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Lowers administrative costs and increases efficiency.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5. Smart, Transparent &amp; Scalable Governance: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Transparent dashboards track officer performance and claims.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AI dispute mediation ensures fairness, reduces human bias.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• Unified digital platform enables future-ready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Hackastra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1138428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9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 u="sng">
                <a:solidFill>
                  <a:srgbClr val="15803D"/>
                </a:solidFill>
                <a:latin typeface="Arial"/>
              </a:rPr>
              <a:t>1. FRA: </a:t>
            </a:r>
            <a:r>
              <a:rPr sz="1100">
                <a:solidFill>
                  <a:srgbClr val="000000"/>
                </a:solidFill>
                <a:latin typeface="Arial"/>
              </a:rPr>
              <a:t>The Forest Rights Act (FRA), 2006 gives rights to forest-dwelling and tribal people, but challenges in implementation remain.
https://tribal.nic.in/FRA.aspx
https://mpvanmitra.mkcl.org/hi</a:t>
            </a:r>
          </a:p>
          <a:p>
            <a:pPr>
              <a:spcAft>
                <a:spcPts val="1000"/>
              </a:spcAft>
            </a:pPr>
            <a:r>
              <a:rPr sz="1150" b="1" u="sng">
                <a:solidFill>
                  <a:srgbClr val="15803D"/>
                </a:solidFill>
                <a:latin typeface="Arial"/>
              </a:rPr>
              <a:t>2. Best Practices for Web Security: </a:t>
            </a:r>
            <a:r>
              <a:rPr sz="1100">
                <a:solidFill>
                  <a:srgbClr val="000000"/>
                </a:solidFill>
                <a:latin typeface="Arial"/>
              </a:rPr>
              <a:t>This guide outlines key web security measures to safeguard user information using Blockchain Technology.
https://owasp.org/www-project-blockchain-appsec-standard/</a:t>
            </a:r>
          </a:p>
          <a:p>
            <a:pPr>
              <a:spcAft>
                <a:spcPts val="1000"/>
              </a:spcAft>
            </a:pPr>
            <a:r>
              <a:rPr sz="1150" b="1" u="sng">
                <a:solidFill>
                  <a:srgbClr val="15803D"/>
                </a:solidFill>
                <a:latin typeface="Arial"/>
              </a:rPr>
              <a:t>3. The Wildlife Protection Act: </a:t>
            </a:r>
            <a:r>
              <a:rPr sz="1100">
                <a:solidFill>
                  <a:srgbClr val="000000"/>
                </a:solidFill>
                <a:latin typeface="Arial"/>
              </a:rPr>
              <a:t>1972 aims to protect wild animals, birds, plants, and their habitats.
https://share.google/F3sPygTbDmIslAmAd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000000"/>
                </a:solidFill>
                <a:latin typeface="Arial"/>
              </a:rPr>
              <a:t>To enable smooth implementation and integration of the FRA Atlas System, the following contacts serve as official state-level resources for communication, data coordination, and support:</a:t>
            </a:r>
          </a:p>
          <a:p>
            <a:pPr>
              <a:spcAft>
                <a:spcPts val="5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4. Madhya Pradesh: </a:t>
            </a:r>
            <a:r>
              <a:rPr sz="1100">
                <a:solidFill>
                  <a:srgbClr val="0070C0"/>
                </a:solidFill>
                <a:latin typeface="Arial"/>
              </a:rPr>
              <a:t>dirtadp@mp.gov.in</a:t>
            </a:r>
          </a:p>
          <a:p>
            <a:pPr>
              <a:spcAft>
                <a:spcPts val="5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5. Odisha: </a:t>
            </a:r>
            <a:r>
              <a:rPr sz="1100">
                <a:solidFill>
                  <a:srgbClr val="0070C0"/>
                </a:solidFill>
                <a:latin typeface="Arial"/>
              </a:rPr>
              <a:t>https://stsc.odisha.gov.in/acts-policies-guidelines/scheduled-tribes-and-other-traditional-forest-dwellers</a:t>
            </a:r>
          </a:p>
          <a:p>
            <a:pPr>
              <a:spcAft>
                <a:spcPts val="5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6. Tripura: </a:t>
            </a:r>
            <a:r>
              <a:rPr sz="1100">
                <a:solidFill>
                  <a:srgbClr val="0070C0"/>
                </a:solidFill>
                <a:latin typeface="Arial"/>
              </a:rPr>
              <a:t>https://forest.tripura.gov.in/</a:t>
            </a:r>
          </a:p>
          <a:p>
            <a:pPr>
              <a:spcAft>
                <a:spcPts val="5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7. Telangana: </a:t>
            </a:r>
            <a:r>
              <a:rPr sz="1100">
                <a:solidFill>
                  <a:srgbClr val="0070C0"/>
                </a:solidFill>
                <a:latin typeface="Arial"/>
              </a:rPr>
              <a:t>https://forestrights.telangana.gov.in/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